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13"/>
  </p:notesMasterIdLst>
  <p:sldIdLst>
    <p:sldId id="256" r:id="rId2"/>
    <p:sldId id="277" r:id="rId3"/>
    <p:sldId id="287" r:id="rId4"/>
    <p:sldId id="288" r:id="rId5"/>
    <p:sldId id="292" r:id="rId6"/>
    <p:sldId id="289" r:id="rId7"/>
    <p:sldId id="290" r:id="rId8"/>
    <p:sldId id="291" r:id="rId9"/>
    <p:sldId id="286" r:id="rId10"/>
    <p:sldId id="282" r:id="rId11"/>
    <p:sldId id="28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04DF61-3B50-48C1-8385-BAB98EB2DDA2}" v="11" dt="2024-12-18T06:30:42.6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22" autoAdjust="0"/>
    <p:restoredTop sz="94660"/>
  </p:normalViewPr>
  <p:slideViewPr>
    <p:cSldViewPr snapToGrid="0">
      <p:cViewPr varScale="1">
        <p:scale>
          <a:sx n="82" d="100"/>
          <a:sy n="82" d="100"/>
        </p:scale>
        <p:origin x="65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uman Khalid" userId="3ea5df429f8ade1c" providerId="LiveId" clId="{8004DF61-3B50-48C1-8385-BAB98EB2DDA2}"/>
    <pc:docChg chg="undo custSel addSld delSld modSld sldOrd">
      <pc:chgData name="Nauman Khalid" userId="3ea5df429f8ade1c" providerId="LiveId" clId="{8004DF61-3B50-48C1-8385-BAB98EB2DDA2}" dt="2024-12-24T18:59:37.889" v="1225" actId="20577"/>
      <pc:docMkLst>
        <pc:docMk/>
      </pc:docMkLst>
      <pc:sldChg chg="addSp modSp mod setBg setClrOvrMap">
        <pc:chgData name="Nauman Khalid" userId="3ea5df429f8ade1c" providerId="LiveId" clId="{8004DF61-3B50-48C1-8385-BAB98EB2DDA2}" dt="2024-12-22T01:18:56.368" v="1193" actId="26606"/>
        <pc:sldMkLst>
          <pc:docMk/>
          <pc:sldMk cId="2676813062" sldId="256"/>
        </pc:sldMkLst>
        <pc:spChg chg="mod">
          <ac:chgData name="Nauman Khalid" userId="3ea5df429f8ade1c" providerId="LiveId" clId="{8004DF61-3B50-48C1-8385-BAB98EB2DDA2}" dt="2024-12-22T01:18:56.368" v="1193" actId="26606"/>
          <ac:spMkLst>
            <pc:docMk/>
            <pc:sldMk cId="2676813062" sldId="256"/>
            <ac:spMk id="2" creationId="{00000000-0000-0000-0000-000000000000}"/>
          </ac:spMkLst>
        </pc:spChg>
        <pc:spChg chg="mod">
          <ac:chgData name="Nauman Khalid" userId="3ea5df429f8ade1c" providerId="LiveId" clId="{8004DF61-3B50-48C1-8385-BAB98EB2DDA2}" dt="2024-12-22T01:18:56.368" v="1193" actId="26606"/>
          <ac:spMkLst>
            <pc:docMk/>
            <pc:sldMk cId="2676813062" sldId="256"/>
            <ac:spMk id="8" creationId="{80FAFE3B-B1B0-1586-D1B7-BFA08D3BDAA0}"/>
          </ac:spMkLst>
        </pc:spChg>
        <pc:spChg chg="add">
          <ac:chgData name="Nauman Khalid" userId="3ea5df429f8ade1c" providerId="LiveId" clId="{8004DF61-3B50-48C1-8385-BAB98EB2DDA2}" dt="2024-12-22T01:18:56.368" v="1193" actId="26606"/>
          <ac:spMkLst>
            <pc:docMk/>
            <pc:sldMk cId="2676813062" sldId="256"/>
            <ac:spMk id="13" creationId="{95FFA5E0-4C70-431D-A19D-18415F6C4009}"/>
          </ac:spMkLst>
        </pc:spChg>
        <pc:spChg chg="add">
          <ac:chgData name="Nauman Khalid" userId="3ea5df429f8ade1c" providerId="LiveId" clId="{8004DF61-3B50-48C1-8385-BAB98EB2DDA2}" dt="2024-12-22T01:18:56.368" v="1193" actId="26606"/>
          <ac:spMkLst>
            <pc:docMk/>
            <pc:sldMk cId="2676813062" sldId="256"/>
            <ac:spMk id="15" creationId="{BBE55C11-4C41-45E4-A00F-83DEE6BB51A8}"/>
          </ac:spMkLst>
        </pc:spChg>
        <pc:picChg chg="mod">
          <ac:chgData name="Nauman Khalid" userId="3ea5df429f8ade1c" providerId="LiveId" clId="{8004DF61-3B50-48C1-8385-BAB98EB2DDA2}" dt="2024-12-22T01:18:56.368" v="1193" actId="26606"/>
          <ac:picMkLst>
            <pc:docMk/>
            <pc:sldMk cId="2676813062" sldId="256"/>
            <ac:picMk id="7" creationId="{EA9E5717-6C2D-80F2-34E4-AB964EA21E36}"/>
          </ac:picMkLst>
        </pc:picChg>
      </pc:sldChg>
      <pc:sldChg chg="del">
        <pc:chgData name="Nauman Khalid" userId="3ea5df429f8ade1c" providerId="LiveId" clId="{8004DF61-3B50-48C1-8385-BAB98EB2DDA2}" dt="2024-12-18T06:42:38.046" v="968" actId="2696"/>
        <pc:sldMkLst>
          <pc:docMk/>
          <pc:sldMk cId="3597872292" sldId="281"/>
        </pc:sldMkLst>
      </pc:sldChg>
      <pc:sldChg chg="delSp modSp mod">
        <pc:chgData name="Nauman Khalid" userId="3ea5df429f8ade1c" providerId="LiveId" clId="{8004DF61-3B50-48C1-8385-BAB98EB2DDA2}" dt="2024-12-21T16:30:14.920" v="1192" actId="20577"/>
        <pc:sldMkLst>
          <pc:docMk/>
          <pc:sldMk cId="3754466837" sldId="282"/>
        </pc:sldMkLst>
        <pc:spChg chg="mod">
          <ac:chgData name="Nauman Khalid" userId="3ea5df429f8ade1c" providerId="LiveId" clId="{8004DF61-3B50-48C1-8385-BAB98EB2DDA2}" dt="2024-12-21T16:30:14.920" v="1192" actId="20577"/>
          <ac:spMkLst>
            <pc:docMk/>
            <pc:sldMk cId="3754466837" sldId="282"/>
            <ac:spMk id="3" creationId="{B60EE249-2C1E-1E5B-D150-D6736570FB81}"/>
          </ac:spMkLst>
        </pc:spChg>
      </pc:sldChg>
      <pc:sldChg chg="modSp mod">
        <pc:chgData name="Nauman Khalid" userId="3ea5df429f8ade1c" providerId="LiveId" clId="{8004DF61-3B50-48C1-8385-BAB98EB2DDA2}" dt="2024-12-18T06:38:54.636" v="963" actId="1076"/>
        <pc:sldMkLst>
          <pc:docMk/>
          <pc:sldMk cId="2359419672" sldId="284"/>
        </pc:sldMkLst>
        <pc:spChg chg="mod">
          <ac:chgData name="Nauman Khalid" userId="3ea5df429f8ade1c" providerId="LiveId" clId="{8004DF61-3B50-48C1-8385-BAB98EB2DDA2}" dt="2024-12-18T06:38:54.636" v="963" actId="1076"/>
          <ac:spMkLst>
            <pc:docMk/>
            <pc:sldMk cId="2359419672" sldId="284"/>
            <ac:spMk id="2" creationId="{EDA240E1-33CD-31D9-5DE3-009B9642738D}"/>
          </ac:spMkLst>
        </pc:spChg>
      </pc:sldChg>
      <pc:sldChg chg="modSp mod">
        <pc:chgData name="Nauman Khalid" userId="3ea5df429f8ade1c" providerId="LiveId" clId="{8004DF61-3B50-48C1-8385-BAB98EB2DDA2}" dt="2024-12-24T18:59:37.889" v="1225" actId="20577"/>
        <pc:sldMkLst>
          <pc:docMk/>
          <pc:sldMk cId="1406320265" sldId="286"/>
        </pc:sldMkLst>
        <pc:spChg chg="mod">
          <ac:chgData name="Nauman Khalid" userId="3ea5df429f8ade1c" providerId="LiveId" clId="{8004DF61-3B50-48C1-8385-BAB98EB2DDA2}" dt="2024-12-18T17:30:57.381" v="1062" actId="404"/>
          <ac:spMkLst>
            <pc:docMk/>
            <pc:sldMk cId="1406320265" sldId="286"/>
            <ac:spMk id="2" creationId="{C58FC1E7-E738-22A2-D221-0A3897E2EC3C}"/>
          </ac:spMkLst>
        </pc:spChg>
        <pc:spChg chg="mod">
          <ac:chgData name="Nauman Khalid" userId="3ea5df429f8ade1c" providerId="LiveId" clId="{8004DF61-3B50-48C1-8385-BAB98EB2DDA2}" dt="2024-12-24T18:59:37.889" v="1225" actId="20577"/>
          <ac:spMkLst>
            <pc:docMk/>
            <pc:sldMk cId="1406320265" sldId="286"/>
            <ac:spMk id="3" creationId="{00000000-0000-0000-0000-000000000000}"/>
          </ac:spMkLst>
        </pc:spChg>
      </pc:sldChg>
      <pc:sldChg chg="addSp delSp modSp mod ord">
        <pc:chgData name="Nauman Khalid" userId="3ea5df429f8ade1c" providerId="LiveId" clId="{8004DF61-3B50-48C1-8385-BAB98EB2DDA2}" dt="2024-12-24T18:52:48.830" v="1213" actId="1076"/>
        <pc:sldMkLst>
          <pc:docMk/>
          <pc:sldMk cId="2558952220" sldId="287"/>
        </pc:sldMkLst>
        <pc:picChg chg="add mod">
          <ac:chgData name="Nauman Khalid" userId="3ea5df429f8ade1c" providerId="LiveId" clId="{8004DF61-3B50-48C1-8385-BAB98EB2DDA2}" dt="2024-12-24T18:52:48.830" v="1213" actId="1076"/>
          <ac:picMkLst>
            <pc:docMk/>
            <pc:sldMk cId="2558952220" sldId="287"/>
            <ac:picMk id="4" creationId="{88ACC60D-31F4-129F-FC48-C7F43AF13304}"/>
          </ac:picMkLst>
        </pc:picChg>
        <pc:picChg chg="add del mod">
          <ac:chgData name="Nauman Khalid" userId="3ea5df429f8ade1c" providerId="LiveId" clId="{8004DF61-3B50-48C1-8385-BAB98EB2DDA2}" dt="2024-12-24T18:52:07.661" v="1209" actId="478"/>
          <ac:picMkLst>
            <pc:docMk/>
            <pc:sldMk cId="2558952220" sldId="287"/>
            <ac:picMk id="6" creationId="{3071804B-8AA9-E897-AD3A-49190247E90B}"/>
          </ac:picMkLst>
        </pc:picChg>
        <pc:picChg chg="add del mod">
          <ac:chgData name="Nauman Khalid" userId="3ea5df429f8ade1c" providerId="LiveId" clId="{8004DF61-3B50-48C1-8385-BAB98EB2DDA2}" dt="2024-12-24T18:46:26.146" v="1202" actId="478"/>
          <ac:picMkLst>
            <pc:docMk/>
            <pc:sldMk cId="2558952220" sldId="287"/>
            <ac:picMk id="7" creationId="{9FD5ADFC-ACBE-BD6E-083F-7D6768BA83A9}"/>
          </ac:picMkLst>
        </pc:picChg>
        <pc:picChg chg="add mod">
          <ac:chgData name="Nauman Khalid" userId="3ea5df429f8ade1c" providerId="LiveId" clId="{8004DF61-3B50-48C1-8385-BAB98EB2DDA2}" dt="2024-12-24T18:52:21.769" v="1212" actId="1076"/>
          <ac:picMkLst>
            <pc:docMk/>
            <pc:sldMk cId="2558952220" sldId="287"/>
            <ac:picMk id="9" creationId="{C07F79CB-5894-89E2-B394-BC4E24BF8724}"/>
          </ac:picMkLst>
        </pc:picChg>
      </pc:sldChg>
      <pc:sldChg chg="addSp delSp modSp mod setBg">
        <pc:chgData name="Nauman Khalid" userId="3ea5df429f8ade1c" providerId="LiveId" clId="{8004DF61-3B50-48C1-8385-BAB98EB2DDA2}" dt="2024-12-18T06:40:43.793" v="964" actId="26606"/>
        <pc:sldMkLst>
          <pc:docMk/>
          <pc:sldMk cId="3581923318" sldId="288"/>
        </pc:sldMkLst>
        <pc:spChg chg="mod">
          <ac:chgData name="Nauman Khalid" userId="3ea5df429f8ade1c" providerId="LiveId" clId="{8004DF61-3B50-48C1-8385-BAB98EB2DDA2}" dt="2024-12-18T06:40:43.793" v="964" actId="26606"/>
          <ac:spMkLst>
            <pc:docMk/>
            <pc:sldMk cId="3581923318" sldId="288"/>
            <ac:spMk id="2" creationId="{68BCD431-0963-EAA1-54FD-2FB353BC0126}"/>
          </ac:spMkLst>
        </pc:spChg>
        <pc:spChg chg="add">
          <ac:chgData name="Nauman Khalid" userId="3ea5df429f8ade1c" providerId="LiveId" clId="{8004DF61-3B50-48C1-8385-BAB98EB2DDA2}" dt="2024-12-18T06:40:43.793" v="964" actId="26606"/>
          <ac:spMkLst>
            <pc:docMk/>
            <pc:sldMk cId="3581923318" sldId="288"/>
            <ac:spMk id="9" creationId="{A3D9AEEE-1CCD-43C0-BA3E-16D60A6E23C0}"/>
          </ac:spMkLst>
        </pc:spChg>
        <pc:spChg chg="add">
          <ac:chgData name="Nauman Khalid" userId="3ea5df429f8ade1c" providerId="LiveId" clId="{8004DF61-3B50-48C1-8385-BAB98EB2DDA2}" dt="2024-12-18T06:40:43.793" v="964" actId="26606"/>
          <ac:spMkLst>
            <pc:docMk/>
            <pc:sldMk cId="3581923318" sldId="288"/>
            <ac:spMk id="11" creationId="{60F880A6-33D3-4EEC-A780-B73559B9F24C}"/>
          </ac:spMkLst>
        </pc:spChg>
        <pc:spChg chg="add">
          <ac:chgData name="Nauman Khalid" userId="3ea5df429f8ade1c" providerId="LiveId" clId="{8004DF61-3B50-48C1-8385-BAB98EB2DDA2}" dt="2024-12-18T06:40:43.793" v="964" actId="26606"/>
          <ac:spMkLst>
            <pc:docMk/>
            <pc:sldMk cId="3581923318" sldId="288"/>
            <ac:spMk id="13" creationId="{2C6246ED-0535-4496-A8F6-1E80CC4EB853}"/>
          </ac:spMkLst>
        </pc:spChg>
        <pc:graphicFrameChg chg="add">
          <ac:chgData name="Nauman Khalid" userId="3ea5df429f8ade1c" providerId="LiveId" clId="{8004DF61-3B50-48C1-8385-BAB98EB2DDA2}" dt="2024-12-18T06:40:43.793" v="964" actId="26606"/>
          <ac:graphicFrameMkLst>
            <pc:docMk/>
            <pc:sldMk cId="3581923318" sldId="288"/>
            <ac:graphicFrameMk id="5" creationId="{82607632-209F-08B3-C079-009F22A54E39}"/>
          </ac:graphicFrameMkLst>
        </pc:graphicFrameChg>
      </pc:sldChg>
      <pc:sldChg chg="addSp delSp modSp mod">
        <pc:chgData name="Nauman Khalid" userId="3ea5df429f8ade1c" providerId="LiveId" clId="{8004DF61-3B50-48C1-8385-BAB98EB2DDA2}" dt="2024-12-18T06:35:27.264" v="908"/>
        <pc:sldMkLst>
          <pc:docMk/>
          <pc:sldMk cId="1032908093" sldId="289"/>
        </pc:sldMkLst>
        <pc:spChg chg="add mod">
          <ac:chgData name="Nauman Khalid" userId="3ea5df429f8ade1c" providerId="LiveId" clId="{8004DF61-3B50-48C1-8385-BAB98EB2DDA2}" dt="2024-12-18T06:34:37.971" v="727" actId="20577"/>
          <ac:spMkLst>
            <pc:docMk/>
            <pc:sldMk cId="1032908093" sldId="289"/>
            <ac:spMk id="3" creationId="{E648391B-95C4-F767-B992-CA060F75E1F8}"/>
          </ac:spMkLst>
        </pc:spChg>
        <pc:spChg chg="mod">
          <ac:chgData name="Nauman Khalid" userId="3ea5df429f8ade1c" providerId="LiveId" clId="{8004DF61-3B50-48C1-8385-BAB98EB2DDA2}" dt="2024-12-18T06:09:42.199" v="0" actId="1076"/>
          <ac:spMkLst>
            <pc:docMk/>
            <pc:sldMk cId="1032908093" sldId="289"/>
            <ac:spMk id="9" creationId="{0199A8F8-484C-E9B8-BACA-BAF31AEE8D42}"/>
          </ac:spMkLst>
        </pc:spChg>
      </pc:sldChg>
      <pc:sldChg chg="delSp modSp add mod ord">
        <pc:chgData name="Nauman Khalid" userId="3ea5df429f8ade1c" providerId="LiveId" clId="{8004DF61-3B50-48C1-8385-BAB98EB2DDA2}" dt="2024-12-21T16:27:31.406" v="1188" actId="255"/>
        <pc:sldMkLst>
          <pc:docMk/>
          <pc:sldMk cId="2179572892" sldId="290"/>
        </pc:sldMkLst>
        <pc:spChg chg="mod">
          <ac:chgData name="Nauman Khalid" userId="3ea5df429f8ade1c" providerId="LiveId" clId="{8004DF61-3B50-48C1-8385-BAB98EB2DDA2}" dt="2024-12-21T16:27:31.406" v="1188" actId="255"/>
          <ac:spMkLst>
            <pc:docMk/>
            <pc:sldMk cId="2179572892" sldId="290"/>
            <ac:spMk id="3" creationId="{C7F4A498-9C53-2F81-C76A-48C4B8934621}"/>
          </ac:spMkLst>
        </pc:spChg>
      </pc:sldChg>
      <pc:sldChg chg="modSp add mod ord">
        <pc:chgData name="Nauman Khalid" userId="3ea5df429f8ade1c" providerId="LiveId" clId="{8004DF61-3B50-48C1-8385-BAB98EB2DDA2}" dt="2024-12-21T16:29:27.888" v="1189" actId="2711"/>
        <pc:sldMkLst>
          <pc:docMk/>
          <pc:sldMk cId="2682516627" sldId="291"/>
        </pc:sldMkLst>
        <pc:spChg chg="mod">
          <ac:chgData name="Nauman Khalid" userId="3ea5df429f8ade1c" providerId="LiveId" clId="{8004DF61-3B50-48C1-8385-BAB98EB2DDA2}" dt="2024-12-18T06:38:33.951" v="960" actId="1076"/>
          <ac:spMkLst>
            <pc:docMk/>
            <pc:sldMk cId="2682516627" sldId="291"/>
            <ac:spMk id="2" creationId="{6C240211-7300-14C1-E31C-B6B7A791E5AC}"/>
          </ac:spMkLst>
        </pc:spChg>
        <pc:spChg chg="mod">
          <ac:chgData name="Nauman Khalid" userId="3ea5df429f8ade1c" providerId="LiveId" clId="{8004DF61-3B50-48C1-8385-BAB98EB2DDA2}" dt="2024-12-21T16:29:27.888" v="1189" actId="2711"/>
          <ac:spMkLst>
            <pc:docMk/>
            <pc:sldMk cId="2682516627" sldId="291"/>
            <ac:spMk id="3" creationId="{CAD017D9-AC72-850E-E878-A230D5549373}"/>
          </ac:spMkLst>
        </pc:spChg>
      </pc:sldChg>
      <pc:sldChg chg="add">
        <pc:chgData name="Nauman Khalid" userId="3ea5df429f8ade1c" providerId="LiveId" clId="{8004DF61-3B50-48C1-8385-BAB98EB2DDA2}" dt="2024-12-24T18:46:12.269" v="1199" actId="2890"/>
        <pc:sldMkLst>
          <pc:docMk/>
          <pc:sldMk cId="2868529920" sldId="292"/>
        </pc:sldMkLst>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3C51E4-1D95-4CAA-B653-985644BC3FF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492D407-B1EE-4652-8D86-3898ECBAD953}">
      <dgm:prSet/>
      <dgm:spPr/>
      <dgm:t>
        <a:bodyPr/>
        <a:lstStyle/>
        <a:p>
          <a:r>
            <a:rPr lang="en-CA"/>
            <a:t>For Predictive Analysis two models were employed.</a:t>
          </a:r>
          <a:endParaRPr lang="en-US"/>
        </a:p>
      </dgm:t>
    </dgm:pt>
    <dgm:pt modelId="{E7AAA47D-CABB-4F2F-B584-E1FE16BEA2E3}" type="parTrans" cxnId="{B100DE2B-80CA-4EC6-8CE6-03228B35932D}">
      <dgm:prSet/>
      <dgm:spPr/>
      <dgm:t>
        <a:bodyPr/>
        <a:lstStyle/>
        <a:p>
          <a:endParaRPr lang="en-US"/>
        </a:p>
      </dgm:t>
    </dgm:pt>
    <dgm:pt modelId="{D8886A90-B16A-4E9E-BD7C-655D1E913096}" type="sibTrans" cxnId="{B100DE2B-80CA-4EC6-8CE6-03228B35932D}">
      <dgm:prSet/>
      <dgm:spPr/>
      <dgm:t>
        <a:bodyPr/>
        <a:lstStyle/>
        <a:p>
          <a:endParaRPr lang="en-US"/>
        </a:p>
      </dgm:t>
    </dgm:pt>
    <dgm:pt modelId="{ED7C70F4-1B1F-420B-A9D0-91B9991ECC1F}">
      <dgm:prSet/>
      <dgm:spPr/>
      <dgm:t>
        <a:bodyPr/>
        <a:lstStyle/>
        <a:p>
          <a:r>
            <a:rPr lang="en-CA"/>
            <a:t>Linear Regression</a:t>
          </a:r>
          <a:endParaRPr lang="en-US"/>
        </a:p>
      </dgm:t>
    </dgm:pt>
    <dgm:pt modelId="{E0B4C7A3-C536-4FB5-ABF6-B3D9DEA0972D}" type="parTrans" cxnId="{E48E3067-7E98-4EF6-8D09-4F315A7AC589}">
      <dgm:prSet/>
      <dgm:spPr/>
      <dgm:t>
        <a:bodyPr/>
        <a:lstStyle/>
        <a:p>
          <a:endParaRPr lang="en-US"/>
        </a:p>
      </dgm:t>
    </dgm:pt>
    <dgm:pt modelId="{7ABA3B1D-231C-4312-80C4-585E14EE4501}" type="sibTrans" cxnId="{E48E3067-7E98-4EF6-8D09-4F315A7AC589}">
      <dgm:prSet/>
      <dgm:spPr/>
      <dgm:t>
        <a:bodyPr/>
        <a:lstStyle/>
        <a:p>
          <a:endParaRPr lang="en-US"/>
        </a:p>
      </dgm:t>
    </dgm:pt>
    <dgm:pt modelId="{8BBD833D-C446-4CAB-8D91-E2149B39B104}">
      <dgm:prSet/>
      <dgm:spPr/>
      <dgm:t>
        <a:bodyPr/>
        <a:lstStyle/>
        <a:p>
          <a:r>
            <a:rPr lang="en-CA"/>
            <a:t>Random Forest</a:t>
          </a:r>
          <a:endParaRPr lang="en-US"/>
        </a:p>
      </dgm:t>
    </dgm:pt>
    <dgm:pt modelId="{C1A2BE2A-E928-485B-A5A1-9D82504BF6F3}" type="parTrans" cxnId="{0657247A-A035-4BBF-B15B-9629616F8E32}">
      <dgm:prSet/>
      <dgm:spPr/>
      <dgm:t>
        <a:bodyPr/>
        <a:lstStyle/>
        <a:p>
          <a:endParaRPr lang="en-US"/>
        </a:p>
      </dgm:t>
    </dgm:pt>
    <dgm:pt modelId="{E5474A5F-E1A3-44F6-9A2E-A6D332167587}" type="sibTrans" cxnId="{0657247A-A035-4BBF-B15B-9629616F8E32}">
      <dgm:prSet/>
      <dgm:spPr/>
      <dgm:t>
        <a:bodyPr/>
        <a:lstStyle/>
        <a:p>
          <a:endParaRPr lang="en-US"/>
        </a:p>
      </dgm:t>
    </dgm:pt>
    <dgm:pt modelId="{144B607D-D3C9-4705-9FB5-57A6E93F77CA}" type="pres">
      <dgm:prSet presAssocID="{5F3C51E4-1D95-4CAA-B653-985644BC3FF1}" presName="root" presStyleCnt="0">
        <dgm:presLayoutVars>
          <dgm:dir/>
          <dgm:resizeHandles val="exact"/>
        </dgm:presLayoutVars>
      </dgm:prSet>
      <dgm:spPr/>
    </dgm:pt>
    <dgm:pt modelId="{47172206-8043-4BCB-85A4-610C50280A34}" type="pres">
      <dgm:prSet presAssocID="{B492D407-B1EE-4652-8D86-3898ECBAD953}" presName="compNode" presStyleCnt="0"/>
      <dgm:spPr/>
    </dgm:pt>
    <dgm:pt modelId="{EE54A304-35AB-4BED-BC99-18AD2AE86E67}" type="pres">
      <dgm:prSet presAssocID="{B492D407-B1EE-4652-8D86-3898ECBAD953}" presName="bgRect" presStyleLbl="bgShp" presStyleIdx="0" presStyleCnt="3"/>
      <dgm:spPr/>
    </dgm:pt>
    <dgm:pt modelId="{D4726CF6-FB1C-4903-8EA8-68BA023BE8E6}" type="pres">
      <dgm:prSet presAssocID="{B492D407-B1EE-4652-8D86-3898ECBAD95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A5B3AFCB-3D0E-4F45-A77B-AFC1FA751606}" type="pres">
      <dgm:prSet presAssocID="{B492D407-B1EE-4652-8D86-3898ECBAD953}" presName="spaceRect" presStyleCnt="0"/>
      <dgm:spPr/>
    </dgm:pt>
    <dgm:pt modelId="{B50C1464-23CC-4EC6-ABEB-BDD390CE8C88}" type="pres">
      <dgm:prSet presAssocID="{B492D407-B1EE-4652-8D86-3898ECBAD953}" presName="parTx" presStyleLbl="revTx" presStyleIdx="0" presStyleCnt="3">
        <dgm:presLayoutVars>
          <dgm:chMax val="0"/>
          <dgm:chPref val="0"/>
        </dgm:presLayoutVars>
      </dgm:prSet>
      <dgm:spPr/>
    </dgm:pt>
    <dgm:pt modelId="{926566AF-1018-47F2-9E05-0AB0DE7355B7}" type="pres">
      <dgm:prSet presAssocID="{D8886A90-B16A-4E9E-BD7C-655D1E913096}" presName="sibTrans" presStyleCnt="0"/>
      <dgm:spPr/>
    </dgm:pt>
    <dgm:pt modelId="{0AD1E809-3202-42F2-B48E-8AA762365586}" type="pres">
      <dgm:prSet presAssocID="{ED7C70F4-1B1F-420B-A9D0-91B9991ECC1F}" presName="compNode" presStyleCnt="0"/>
      <dgm:spPr/>
    </dgm:pt>
    <dgm:pt modelId="{C9BAC072-5412-4C39-BE46-39C99245F502}" type="pres">
      <dgm:prSet presAssocID="{ED7C70F4-1B1F-420B-A9D0-91B9991ECC1F}" presName="bgRect" presStyleLbl="bgShp" presStyleIdx="1" presStyleCnt="3"/>
      <dgm:spPr/>
    </dgm:pt>
    <dgm:pt modelId="{3BED6B26-A731-4115-B240-20CE1F246F9A}" type="pres">
      <dgm:prSet presAssocID="{ED7C70F4-1B1F-420B-A9D0-91B9991ECC1F}"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ocument"/>
        </a:ext>
      </dgm:extLst>
    </dgm:pt>
    <dgm:pt modelId="{A5B1F267-0ACF-42CE-A967-1088621C3367}" type="pres">
      <dgm:prSet presAssocID="{ED7C70F4-1B1F-420B-A9D0-91B9991ECC1F}" presName="spaceRect" presStyleCnt="0"/>
      <dgm:spPr/>
    </dgm:pt>
    <dgm:pt modelId="{4C7426F8-6E58-4DFD-BA2F-0F14A1B65C16}" type="pres">
      <dgm:prSet presAssocID="{ED7C70F4-1B1F-420B-A9D0-91B9991ECC1F}" presName="parTx" presStyleLbl="revTx" presStyleIdx="1" presStyleCnt="3">
        <dgm:presLayoutVars>
          <dgm:chMax val="0"/>
          <dgm:chPref val="0"/>
        </dgm:presLayoutVars>
      </dgm:prSet>
      <dgm:spPr/>
    </dgm:pt>
    <dgm:pt modelId="{E45480B0-80CA-4A1D-AD15-A9BE52016790}" type="pres">
      <dgm:prSet presAssocID="{7ABA3B1D-231C-4312-80C4-585E14EE4501}" presName="sibTrans" presStyleCnt="0"/>
      <dgm:spPr/>
    </dgm:pt>
    <dgm:pt modelId="{85F77605-452E-47FE-B30A-44CC1F0CF324}" type="pres">
      <dgm:prSet presAssocID="{8BBD833D-C446-4CAB-8D91-E2149B39B104}" presName="compNode" presStyleCnt="0"/>
      <dgm:spPr/>
    </dgm:pt>
    <dgm:pt modelId="{9EBEA365-F16E-4106-92C5-64BDD5FED085}" type="pres">
      <dgm:prSet presAssocID="{8BBD833D-C446-4CAB-8D91-E2149B39B104}" presName="bgRect" presStyleLbl="bgShp" presStyleIdx="2" presStyleCnt="3"/>
      <dgm:spPr/>
    </dgm:pt>
    <dgm:pt modelId="{D87E8328-CD09-44A2-997C-922EA7F4C96D}" type="pres">
      <dgm:prSet presAssocID="{8BBD833D-C446-4CAB-8D91-E2149B39B10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eciduous tree"/>
        </a:ext>
      </dgm:extLst>
    </dgm:pt>
    <dgm:pt modelId="{2C84C54C-615A-4A73-9128-8A395A47A05B}" type="pres">
      <dgm:prSet presAssocID="{8BBD833D-C446-4CAB-8D91-E2149B39B104}" presName="spaceRect" presStyleCnt="0"/>
      <dgm:spPr/>
    </dgm:pt>
    <dgm:pt modelId="{A9A9431A-9ED5-4A4C-BB6A-D960F44389E5}" type="pres">
      <dgm:prSet presAssocID="{8BBD833D-C446-4CAB-8D91-E2149B39B104}" presName="parTx" presStyleLbl="revTx" presStyleIdx="2" presStyleCnt="3">
        <dgm:presLayoutVars>
          <dgm:chMax val="0"/>
          <dgm:chPref val="0"/>
        </dgm:presLayoutVars>
      </dgm:prSet>
      <dgm:spPr/>
    </dgm:pt>
  </dgm:ptLst>
  <dgm:cxnLst>
    <dgm:cxn modelId="{14DF4026-CD0E-44CC-B171-651754A02744}" type="presOf" srcId="{B492D407-B1EE-4652-8D86-3898ECBAD953}" destId="{B50C1464-23CC-4EC6-ABEB-BDD390CE8C88}" srcOrd="0" destOrd="0" presId="urn:microsoft.com/office/officeart/2018/2/layout/IconVerticalSolidList"/>
    <dgm:cxn modelId="{B100DE2B-80CA-4EC6-8CE6-03228B35932D}" srcId="{5F3C51E4-1D95-4CAA-B653-985644BC3FF1}" destId="{B492D407-B1EE-4652-8D86-3898ECBAD953}" srcOrd="0" destOrd="0" parTransId="{E7AAA47D-CABB-4F2F-B584-E1FE16BEA2E3}" sibTransId="{D8886A90-B16A-4E9E-BD7C-655D1E913096}"/>
    <dgm:cxn modelId="{BC703C40-D01B-47B7-A38C-43EDD690C017}" type="presOf" srcId="{8BBD833D-C446-4CAB-8D91-E2149B39B104}" destId="{A9A9431A-9ED5-4A4C-BB6A-D960F44389E5}" srcOrd="0" destOrd="0" presId="urn:microsoft.com/office/officeart/2018/2/layout/IconVerticalSolidList"/>
    <dgm:cxn modelId="{E48E3067-7E98-4EF6-8D09-4F315A7AC589}" srcId="{5F3C51E4-1D95-4CAA-B653-985644BC3FF1}" destId="{ED7C70F4-1B1F-420B-A9D0-91B9991ECC1F}" srcOrd="1" destOrd="0" parTransId="{E0B4C7A3-C536-4FB5-ABF6-B3D9DEA0972D}" sibTransId="{7ABA3B1D-231C-4312-80C4-585E14EE4501}"/>
    <dgm:cxn modelId="{0657247A-A035-4BBF-B15B-9629616F8E32}" srcId="{5F3C51E4-1D95-4CAA-B653-985644BC3FF1}" destId="{8BBD833D-C446-4CAB-8D91-E2149B39B104}" srcOrd="2" destOrd="0" parTransId="{C1A2BE2A-E928-485B-A5A1-9D82504BF6F3}" sibTransId="{E5474A5F-E1A3-44F6-9A2E-A6D332167587}"/>
    <dgm:cxn modelId="{0FB0B87D-21D7-4256-9F38-744A10EA9CD6}" type="presOf" srcId="{5F3C51E4-1D95-4CAA-B653-985644BC3FF1}" destId="{144B607D-D3C9-4705-9FB5-57A6E93F77CA}" srcOrd="0" destOrd="0" presId="urn:microsoft.com/office/officeart/2018/2/layout/IconVerticalSolidList"/>
    <dgm:cxn modelId="{FDF228CA-631B-455D-9325-4370394C6ADD}" type="presOf" srcId="{ED7C70F4-1B1F-420B-A9D0-91B9991ECC1F}" destId="{4C7426F8-6E58-4DFD-BA2F-0F14A1B65C16}" srcOrd="0" destOrd="0" presId="urn:microsoft.com/office/officeart/2018/2/layout/IconVerticalSolidList"/>
    <dgm:cxn modelId="{AE36B8B4-177A-45CC-AB17-47C89E0E8E0C}" type="presParOf" srcId="{144B607D-D3C9-4705-9FB5-57A6E93F77CA}" destId="{47172206-8043-4BCB-85A4-610C50280A34}" srcOrd="0" destOrd="0" presId="urn:microsoft.com/office/officeart/2018/2/layout/IconVerticalSolidList"/>
    <dgm:cxn modelId="{3A490C2A-1A88-40CF-A273-D043AB4BB023}" type="presParOf" srcId="{47172206-8043-4BCB-85A4-610C50280A34}" destId="{EE54A304-35AB-4BED-BC99-18AD2AE86E67}" srcOrd="0" destOrd="0" presId="urn:microsoft.com/office/officeart/2018/2/layout/IconVerticalSolidList"/>
    <dgm:cxn modelId="{3B241351-C494-443F-AE86-6B255746F934}" type="presParOf" srcId="{47172206-8043-4BCB-85A4-610C50280A34}" destId="{D4726CF6-FB1C-4903-8EA8-68BA023BE8E6}" srcOrd="1" destOrd="0" presId="urn:microsoft.com/office/officeart/2018/2/layout/IconVerticalSolidList"/>
    <dgm:cxn modelId="{FB499756-A2D3-4A02-8B67-7E93CD44A0D4}" type="presParOf" srcId="{47172206-8043-4BCB-85A4-610C50280A34}" destId="{A5B3AFCB-3D0E-4F45-A77B-AFC1FA751606}" srcOrd="2" destOrd="0" presId="urn:microsoft.com/office/officeart/2018/2/layout/IconVerticalSolidList"/>
    <dgm:cxn modelId="{D9CB6CAB-1DDB-44E3-A6E2-9B85EB6FEDC0}" type="presParOf" srcId="{47172206-8043-4BCB-85A4-610C50280A34}" destId="{B50C1464-23CC-4EC6-ABEB-BDD390CE8C88}" srcOrd="3" destOrd="0" presId="urn:microsoft.com/office/officeart/2018/2/layout/IconVerticalSolidList"/>
    <dgm:cxn modelId="{16188EE6-CDB8-45DD-9333-1B5A0B0B1D61}" type="presParOf" srcId="{144B607D-D3C9-4705-9FB5-57A6E93F77CA}" destId="{926566AF-1018-47F2-9E05-0AB0DE7355B7}" srcOrd="1" destOrd="0" presId="urn:microsoft.com/office/officeart/2018/2/layout/IconVerticalSolidList"/>
    <dgm:cxn modelId="{671F079C-3BBF-4EEE-8D4D-C6875E34E9E0}" type="presParOf" srcId="{144B607D-D3C9-4705-9FB5-57A6E93F77CA}" destId="{0AD1E809-3202-42F2-B48E-8AA762365586}" srcOrd="2" destOrd="0" presId="urn:microsoft.com/office/officeart/2018/2/layout/IconVerticalSolidList"/>
    <dgm:cxn modelId="{A5B70447-D21F-4E64-9746-A4F437A7B7AD}" type="presParOf" srcId="{0AD1E809-3202-42F2-B48E-8AA762365586}" destId="{C9BAC072-5412-4C39-BE46-39C99245F502}" srcOrd="0" destOrd="0" presId="urn:microsoft.com/office/officeart/2018/2/layout/IconVerticalSolidList"/>
    <dgm:cxn modelId="{AFA3E8AE-CEC4-4861-94A1-F4EF4ECC35AC}" type="presParOf" srcId="{0AD1E809-3202-42F2-B48E-8AA762365586}" destId="{3BED6B26-A731-4115-B240-20CE1F246F9A}" srcOrd="1" destOrd="0" presId="urn:microsoft.com/office/officeart/2018/2/layout/IconVerticalSolidList"/>
    <dgm:cxn modelId="{104A6AEA-A450-487D-BDBC-C307B08B3BD7}" type="presParOf" srcId="{0AD1E809-3202-42F2-B48E-8AA762365586}" destId="{A5B1F267-0ACF-42CE-A967-1088621C3367}" srcOrd="2" destOrd="0" presId="urn:microsoft.com/office/officeart/2018/2/layout/IconVerticalSolidList"/>
    <dgm:cxn modelId="{F024264B-9127-4D3F-9D16-D86D2C34F74C}" type="presParOf" srcId="{0AD1E809-3202-42F2-B48E-8AA762365586}" destId="{4C7426F8-6E58-4DFD-BA2F-0F14A1B65C16}" srcOrd="3" destOrd="0" presId="urn:microsoft.com/office/officeart/2018/2/layout/IconVerticalSolidList"/>
    <dgm:cxn modelId="{CCEB3BEC-9DAC-4635-A55F-003B2ECB9AB4}" type="presParOf" srcId="{144B607D-D3C9-4705-9FB5-57A6E93F77CA}" destId="{E45480B0-80CA-4A1D-AD15-A9BE52016790}" srcOrd="3" destOrd="0" presId="urn:microsoft.com/office/officeart/2018/2/layout/IconVerticalSolidList"/>
    <dgm:cxn modelId="{22265919-B6A7-4BF2-A2E1-32170EA2BC5E}" type="presParOf" srcId="{144B607D-D3C9-4705-9FB5-57A6E93F77CA}" destId="{85F77605-452E-47FE-B30A-44CC1F0CF324}" srcOrd="4" destOrd="0" presId="urn:microsoft.com/office/officeart/2018/2/layout/IconVerticalSolidList"/>
    <dgm:cxn modelId="{1304E311-B0A0-4230-ABF6-7B3771CEC830}" type="presParOf" srcId="{85F77605-452E-47FE-B30A-44CC1F0CF324}" destId="{9EBEA365-F16E-4106-92C5-64BDD5FED085}" srcOrd="0" destOrd="0" presId="urn:microsoft.com/office/officeart/2018/2/layout/IconVerticalSolidList"/>
    <dgm:cxn modelId="{F73233DB-F16A-4943-B081-BC4B21E2555E}" type="presParOf" srcId="{85F77605-452E-47FE-B30A-44CC1F0CF324}" destId="{D87E8328-CD09-44A2-997C-922EA7F4C96D}" srcOrd="1" destOrd="0" presId="urn:microsoft.com/office/officeart/2018/2/layout/IconVerticalSolidList"/>
    <dgm:cxn modelId="{3F92735D-3DA5-46E0-8D9C-0A5846D84309}" type="presParOf" srcId="{85F77605-452E-47FE-B30A-44CC1F0CF324}" destId="{2C84C54C-615A-4A73-9128-8A395A47A05B}" srcOrd="2" destOrd="0" presId="urn:microsoft.com/office/officeart/2018/2/layout/IconVerticalSolidList"/>
    <dgm:cxn modelId="{00FE9AEF-8A26-4C80-8A94-FE24365F9E11}" type="presParOf" srcId="{85F77605-452E-47FE-B30A-44CC1F0CF324}" destId="{A9A9431A-9ED5-4A4C-BB6A-D960F44389E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54A304-35AB-4BED-BC99-18AD2AE86E67}">
      <dsp:nvSpPr>
        <dsp:cNvPr id="0" name=""/>
        <dsp:cNvSpPr/>
      </dsp:nvSpPr>
      <dsp:spPr>
        <a:xfrm>
          <a:off x="0" y="642"/>
          <a:ext cx="6832212" cy="15038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726CF6-FB1C-4903-8EA8-68BA023BE8E6}">
      <dsp:nvSpPr>
        <dsp:cNvPr id="0" name=""/>
        <dsp:cNvSpPr/>
      </dsp:nvSpPr>
      <dsp:spPr>
        <a:xfrm>
          <a:off x="454916" y="339010"/>
          <a:ext cx="827120" cy="8271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B50C1464-23CC-4EC6-ABEB-BDD390CE8C88}">
      <dsp:nvSpPr>
        <dsp:cNvPr id="0" name=""/>
        <dsp:cNvSpPr/>
      </dsp:nvSpPr>
      <dsp:spPr>
        <a:xfrm>
          <a:off x="1736952" y="642"/>
          <a:ext cx="5095259" cy="15038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158" tIns="159158" rIns="159158" bIns="159158" numCol="1" spcCol="1270" anchor="ctr" anchorCtr="0">
          <a:noAutofit/>
        </a:bodyPr>
        <a:lstStyle/>
        <a:p>
          <a:pPr marL="0" lvl="0" indent="0" algn="l" defTabSz="1111250">
            <a:lnSpc>
              <a:spcPct val="90000"/>
            </a:lnSpc>
            <a:spcBef>
              <a:spcPct val="0"/>
            </a:spcBef>
            <a:spcAft>
              <a:spcPct val="35000"/>
            </a:spcAft>
            <a:buNone/>
          </a:pPr>
          <a:r>
            <a:rPr lang="en-CA" sz="2500" kern="1200"/>
            <a:t>For Predictive Analysis two models were employed.</a:t>
          </a:r>
          <a:endParaRPr lang="en-US" sz="2500" kern="1200"/>
        </a:p>
      </dsp:txBody>
      <dsp:txXfrm>
        <a:off x="1736952" y="642"/>
        <a:ext cx="5095259" cy="1503855"/>
      </dsp:txXfrm>
    </dsp:sp>
    <dsp:sp modelId="{C9BAC072-5412-4C39-BE46-39C99245F502}">
      <dsp:nvSpPr>
        <dsp:cNvPr id="0" name=""/>
        <dsp:cNvSpPr/>
      </dsp:nvSpPr>
      <dsp:spPr>
        <a:xfrm>
          <a:off x="0" y="1880461"/>
          <a:ext cx="6832212" cy="15038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ED6B26-A731-4115-B240-20CE1F246F9A}">
      <dsp:nvSpPr>
        <dsp:cNvPr id="0" name=""/>
        <dsp:cNvSpPr/>
      </dsp:nvSpPr>
      <dsp:spPr>
        <a:xfrm>
          <a:off x="454916" y="2218829"/>
          <a:ext cx="827120" cy="8271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C7426F8-6E58-4DFD-BA2F-0F14A1B65C16}">
      <dsp:nvSpPr>
        <dsp:cNvPr id="0" name=""/>
        <dsp:cNvSpPr/>
      </dsp:nvSpPr>
      <dsp:spPr>
        <a:xfrm>
          <a:off x="1736952" y="1880461"/>
          <a:ext cx="5095259" cy="15038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158" tIns="159158" rIns="159158" bIns="159158" numCol="1" spcCol="1270" anchor="ctr" anchorCtr="0">
          <a:noAutofit/>
        </a:bodyPr>
        <a:lstStyle/>
        <a:p>
          <a:pPr marL="0" lvl="0" indent="0" algn="l" defTabSz="1111250">
            <a:lnSpc>
              <a:spcPct val="90000"/>
            </a:lnSpc>
            <a:spcBef>
              <a:spcPct val="0"/>
            </a:spcBef>
            <a:spcAft>
              <a:spcPct val="35000"/>
            </a:spcAft>
            <a:buNone/>
          </a:pPr>
          <a:r>
            <a:rPr lang="en-CA" sz="2500" kern="1200"/>
            <a:t>Linear Regression</a:t>
          </a:r>
          <a:endParaRPr lang="en-US" sz="2500" kern="1200"/>
        </a:p>
      </dsp:txBody>
      <dsp:txXfrm>
        <a:off x="1736952" y="1880461"/>
        <a:ext cx="5095259" cy="1503855"/>
      </dsp:txXfrm>
    </dsp:sp>
    <dsp:sp modelId="{9EBEA365-F16E-4106-92C5-64BDD5FED085}">
      <dsp:nvSpPr>
        <dsp:cNvPr id="0" name=""/>
        <dsp:cNvSpPr/>
      </dsp:nvSpPr>
      <dsp:spPr>
        <a:xfrm>
          <a:off x="0" y="3760280"/>
          <a:ext cx="6832212" cy="150385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7E8328-CD09-44A2-997C-922EA7F4C96D}">
      <dsp:nvSpPr>
        <dsp:cNvPr id="0" name=""/>
        <dsp:cNvSpPr/>
      </dsp:nvSpPr>
      <dsp:spPr>
        <a:xfrm>
          <a:off x="454916" y="4098648"/>
          <a:ext cx="827120" cy="8271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9A9431A-9ED5-4A4C-BB6A-D960F44389E5}">
      <dsp:nvSpPr>
        <dsp:cNvPr id="0" name=""/>
        <dsp:cNvSpPr/>
      </dsp:nvSpPr>
      <dsp:spPr>
        <a:xfrm>
          <a:off x="1736952" y="3760280"/>
          <a:ext cx="5095259" cy="15038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9158" tIns="159158" rIns="159158" bIns="159158" numCol="1" spcCol="1270" anchor="ctr" anchorCtr="0">
          <a:noAutofit/>
        </a:bodyPr>
        <a:lstStyle/>
        <a:p>
          <a:pPr marL="0" lvl="0" indent="0" algn="l" defTabSz="1111250">
            <a:lnSpc>
              <a:spcPct val="90000"/>
            </a:lnSpc>
            <a:spcBef>
              <a:spcPct val="0"/>
            </a:spcBef>
            <a:spcAft>
              <a:spcPct val="35000"/>
            </a:spcAft>
            <a:buNone/>
          </a:pPr>
          <a:r>
            <a:rPr lang="en-CA" sz="2500" kern="1200"/>
            <a:t>Random Forest</a:t>
          </a:r>
          <a:endParaRPr lang="en-US" sz="2500" kern="1200"/>
        </a:p>
      </dsp:txBody>
      <dsp:txXfrm>
        <a:off x="1736952" y="3760280"/>
        <a:ext cx="5095259" cy="150385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1A3A75-5DC4-4FF7-A0E3-EBDDE56820FB}" type="datetimeFigureOut">
              <a:rPr lang="en-CA" smtClean="0"/>
              <a:t>2024-12-24</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4970E4-A23D-4961-AA51-506D68C7985B}" type="slidenum">
              <a:rPr lang="en-CA" smtClean="0"/>
              <a:t>‹#›</a:t>
            </a:fld>
            <a:endParaRPr lang="en-CA"/>
          </a:p>
        </p:txBody>
      </p:sp>
    </p:spTree>
    <p:extLst>
      <p:ext uri="{BB962C8B-B14F-4D97-AF65-F5344CB8AC3E}">
        <p14:creationId xmlns:p14="http://schemas.microsoft.com/office/powerpoint/2010/main" val="36223342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4E361B8-7D68-469C-9A0B-4DDC3A24C06B}" type="datetimeFigureOut">
              <a:rPr lang="en-CA" smtClean="0"/>
              <a:t>2024-12-24</a:t>
            </a:fld>
            <a:endParaRPr lang="en-CA"/>
          </a:p>
        </p:txBody>
      </p:sp>
      <p:sp>
        <p:nvSpPr>
          <p:cNvPr id="5" name="Footer Placeholder 4"/>
          <p:cNvSpPr>
            <a:spLocks noGrp="1"/>
          </p:cNvSpPr>
          <p:nvPr>
            <p:ph type="ftr" sz="quarter" idx="11"/>
          </p:nvPr>
        </p:nvSpPr>
        <p:spPr/>
        <p:txBody>
          <a:bodyPr/>
          <a:lstStyle/>
          <a:p>
            <a:endParaRPr lang="en-CA"/>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DDB0CA4-0A55-48C9-A271-8DB2A67465E2}" type="slidenum">
              <a:rPr lang="en-CA" smtClean="0"/>
              <a:t>‹#›</a:t>
            </a:fld>
            <a:endParaRPr lang="en-CA"/>
          </a:p>
        </p:txBody>
      </p:sp>
    </p:spTree>
    <p:extLst>
      <p:ext uri="{BB962C8B-B14F-4D97-AF65-F5344CB8AC3E}">
        <p14:creationId xmlns:p14="http://schemas.microsoft.com/office/powerpoint/2010/main" val="26325278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E361B8-7D68-469C-9A0B-4DDC3A24C06B}" type="datetimeFigureOut">
              <a:rPr lang="en-CA" smtClean="0"/>
              <a:t>2024-12-24</a:t>
            </a:fld>
            <a:endParaRPr lang="en-CA"/>
          </a:p>
        </p:txBody>
      </p:sp>
      <p:sp>
        <p:nvSpPr>
          <p:cNvPr id="5" name="Footer Placeholder 4"/>
          <p:cNvSpPr>
            <a:spLocks noGrp="1"/>
          </p:cNvSpPr>
          <p:nvPr>
            <p:ph type="ftr" sz="quarter" idx="11"/>
          </p:nvPr>
        </p:nvSpPr>
        <p:spPr/>
        <p:txBody>
          <a:bodyPr/>
          <a:lstStyle/>
          <a:p>
            <a:endParaRPr lang="en-C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DB0CA4-0A55-48C9-A271-8DB2A67465E2}" type="slidenum">
              <a:rPr lang="en-CA" smtClean="0"/>
              <a:t>‹#›</a:t>
            </a:fld>
            <a:endParaRPr lang="en-CA"/>
          </a:p>
        </p:txBody>
      </p:sp>
    </p:spTree>
    <p:extLst>
      <p:ext uri="{BB962C8B-B14F-4D97-AF65-F5344CB8AC3E}">
        <p14:creationId xmlns:p14="http://schemas.microsoft.com/office/powerpoint/2010/main" val="1667070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E361B8-7D68-469C-9A0B-4DDC3A24C06B}" type="datetimeFigureOut">
              <a:rPr lang="en-CA" smtClean="0"/>
              <a:t>2024-12-24</a:t>
            </a:fld>
            <a:endParaRPr lang="en-CA"/>
          </a:p>
        </p:txBody>
      </p:sp>
      <p:sp>
        <p:nvSpPr>
          <p:cNvPr id="5" name="Footer Placeholder 4"/>
          <p:cNvSpPr>
            <a:spLocks noGrp="1"/>
          </p:cNvSpPr>
          <p:nvPr>
            <p:ph type="ftr" sz="quarter" idx="11"/>
          </p:nvPr>
        </p:nvSpPr>
        <p:spPr/>
        <p:txBody>
          <a:bodyPr/>
          <a:lstStyle/>
          <a:p>
            <a:endParaRPr lang="en-CA"/>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DDB0CA4-0A55-48C9-A271-8DB2A67465E2}" type="slidenum">
              <a:rPr lang="en-CA" smtClean="0"/>
              <a:t>‹#›</a:t>
            </a:fld>
            <a:endParaRPr lang="en-CA"/>
          </a:p>
        </p:txBody>
      </p:sp>
    </p:spTree>
    <p:extLst>
      <p:ext uri="{BB962C8B-B14F-4D97-AF65-F5344CB8AC3E}">
        <p14:creationId xmlns:p14="http://schemas.microsoft.com/office/powerpoint/2010/main" val="727305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E361B8-7D68-469C-9A0B-4DDC3A24C06B}" type="datetimeFigureOut">
              <a:rPr lang="en-CA" smtClean="0"/>
              <a:t>2024-12-24</a:t>
            </a:fld>
            <a:endParaRPr lang="en-CA"/>
          </a:p>
        </p:txBody>
      </p:sp>
      <p:sp>
        <p:nvSpPr>
          <p:cNvPr id="6" name="Footer Placeholder 5"/>
          <p:cNvSpPr>
            <a:spLocks noGrp="1"/>
          </p:cNvSpPr>
          <p:nvPr>
            <p:ph type="ftr" sz="quarter" idx="11"/>
          </p:nvPr>
        </p:nvSpPr>
        <p:spPr/>
        <p:txBody>
          <a:bodyPr/>
          <a:lstStyle/>
          <a:p>
            <a:endParaRPr lang="en-CA"/>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DDB0CA4-0A55-48C9-A271-8DB2A67465E2}" type="slidenum">
              <a:rPr lang="en-CA" smtClean="0"/>
              <a:t>‹#›</a:t>
            </a:fld>
            <a:endParaRPr lang="en-CA"/>
          </a:p>
        </p:txBody>
      </p:sp>
    </p:spTree>
    <p:extLst>
      <p:ext uri="{BB962C8B-B14F-4D97-AF65-F5344CB8AC3E}">
        <p14:creationId xmlns:p14="http://schemas.microsoft.com/office/powerpoint/2010/main" val="2600155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E361B8-7D68-469C-9A0B-4DDC3A24C06B}" type="datetimeFigureOut">
              <a:rPr lang="en-CA" smtClean="0"/>
              <a:t>2024-12-24</a:t>
            </a:fld>
            <a:endParaRPr lang="en-CA"/>
          </a:p>
        </p:txBody>
      </p:sp>
      <p:sp>
        <p:nvSpPr>
          <p:cNvPr id="8" name="Footer Placeholder 7"/>
          <p:cNvSpPr>
            <a:spLocks noGrp="1"/>
          </p:cNvSpPr>
          <p:nvPr>
            <p:ph type="ftr" sz="quarter" idx="11"/>
          </p:nvPr>
        </p:nvSpPr>
        <p:spPr/>
        <p:txBody>
          <a:bodyPr/>
          <a:lstStyle/>
          <a:p>
            <a:endParaRPr lang="en-CA"/>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DDB0CA4-0A55-48C9-A271-8DB2A67465E2}" type="slidenum">
              <a:rPr lang="en-CA" smtClean="0"/>
              <a:t>‹#›</a:t>
            </a:fld>
            <a:endParaRPr lang="en-CA"/>
          </a:p>
        </p:txBody>
      </p:sp>
    </p:spTree>
    <p:extLst>
      <p:ext uri="{BB962C8B-B14F-4D97-AF65-F5344CB8AC3E}">
        <p14:creationId xmlns:p14="http://schemas.microsoft.com/office/powerpoint/2010/main" val="18752753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4E361B8-7D68-469C-9A0B-4DDC3A24C06B}" type="datetimeFigureOut">
              <a:rPr lang="en-CA" smtClean="0"/>
              <a:t>2024-12-24</a:t>
            </a:fld>
            <a:endParaRPr lang="en-CA"/>
          </a:p>
        </p:txBody>
      </p:sp>
      <p:sp>
        <p:nvSpPr>
          <p:cNvPr id="4" name="Footer Placeholder 3"/>
          <p:cNvSpPr>
            <a:spLocks noGrp="1"/>
          </p:cNvSpPr>
          <p:nvPr>
            <p:ph type="ftr" sz="quarter" idx="11"/>
          </p:nvPr>
        </p:nvSpPr>
        <p:spPr/>
        <p:txBody>
          <a:bodyPr/>
          <a:lstStyle/>
          <a:p>
            <a:endParaRPr lang="en-CA"/>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DDB0CA4-0A55-48C9-A271-8DB2A67465E2}" type="slidenum">
              <a:rPr lang="en-CA" smtClean="0"/>
              <a:t>‹#›</a:t>
            </a:fld>
            <a:endParaRPr lang="en-CA"/>
          </a:p>
        </p:txBody>
      </p:sp>
    </p:spTree>
    <p:extLst>
      <p:ext uri="{BB962C8B-B14F-4D97-AF65-F5344CB8AC3E}">
        <p14:creationId xmlns:p14="http://schemas.microsoft.com/office/powerpoint/2010/main" val="3077616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E361B8-7D68-469C-9A0B-4DDC3A24C06B}" type="datetimeFigureOut">
              <a:rPr lang="en-CA" smtClean="0"/>
              <a:t>2024-12-24</a:t>
            </a:fld>
            <a:endParaRPr lang="en-CA"/>
          </a:p>
        </p:txBody>
      </p:sp>
      <p:sp>
        <p:nvSpPr>
          <p:cNvPr id="3" name="Footer Placeholder 2"/>
          <p:cNvSpPr>
            <a:spLocks noGrp="1"/>
          </p:cNvSpPr>
          <p:nvPr>
            <p:ph type="ftr" sz="quarter" idx="11"/>
          </p:nvPr>
        </p:nvSpPr>
        <p:spPr/>
        <p:txBody>
          <a:bodyPr/>
          <a:lstStyle/>
          <a:p>
            <a:endParaRPr lang="en-CA"/>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DDB0CA4-0A55-48C9-A271-8DB2A67465E2}" type="slidenum">
              <a:rPr lang="en-CA" smtClean="0"/>
              <a:t>‹#›</a:t>
            </a:fld>
            <a:endParaRPr lang="en-CA"/>
          </a:p>
        </p:txBody>
      </p:sp>
    </p:spTree>
    <p:extLst>
      <p:ext uri="{BB962C8B-B14F-4D97-AF65-F5344CB8AC3E}">
        <p14:creationId xmlns:p14="http://schemas.microsoft.com/office/powerpoint/2010/main" val="1660257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4E361B8-7D68-469C-9A0B-4DDC3A24C06B}" type="datetimeFigureOut">
              <a:rPr lang="en-CA" smtClean="0"/>
              <a:t>2024-12-24</a:t>
            </a:fld>
            <a:endParaRPr lang="en-CA"/>
          </a:p>
        </p:txBody>
      </p:sp>
      <p:sp>
        <p:nvSpPr>
          <p:cNvPr id="6" name="Footer Placeholder 5"/>
          <p:cNvSpPr>
            <a:spLocks noGrp="1"/>
          </p:cNvSpPr>
          <p:nvPr>
            <p:ph type="ftr" sz="quarter" idx="11"/>
          </p:nvPr>
        </p:nvSpPr>
        <p:spPr/>
        <p:txBody>
          <a:bodyPr/>
          <a:lstStyle/>
          <a:p>
            <a:endParaRPr lang="en-CA"/>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DDB0CA4-0A55-48C9-A271-8DB2A67465E2}" type="slidenum">
              <a:rPr lang="en-CA" smtClean="0"/>
              <a:t>‹#›</a:t>
            </a:fld>
            <a:endParaRPr lang="en-CA"/>
          </a:p>
        </p:txBody>
      </p:sp>
    </p:spTree>
    <p:extLst>
      <p:ext uri="{BB962C8B-B14F-4D97-AF65-F5344CB8AC3E}">
        <p14:creationId xmlns:p14="http://schemas.microsoft.com/office/powerpoint/2010/main" val="4020573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4E361B8-7D68-469C-9A0B-4DDC3A24C06B}" type="datetimeFigureOut">
              <a:rPr lang="en-CA" smtClean="0"/>
              <a:t>2024-12-24</a:t>
            </a:fld>
            <a:endParaRPr lang="en-CA"/>
          </a:p>
        </p:txBody>
      </p:sp>
      <p:sp>
        <p:nvSpPr>
          <p:cNvPr id="6" name="Footer Placeholder 5"/>
          <p:cNvSpPr>
            <a:spLocks noGrp="1"/>
          </p:cNvSpPr>
          <p:nvPr>
            <p:ph type="ftr" sz="quarter" idx="11"/>
          </p:nvPr>
        </p:nvSpPr>
        <p:spPr/>
        <p:txBody>
          <a:bodyPr/>
          <a:lstStyle/>
          <a:p>
            <a:endParaRPr lang="en-C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DB0CA4-0A55-48C9-A271-8DB2A67465E2}" type="slidenum">
              <a:rPr lang="en-CA" smtClean="0"/>
              <a:t>‹#›</a:t>
            </a:fld>
            <a:endParaRPr lang="en-CA"/>
          </a:p>
        </p:txBody>
      </p:sp>
    </p:spTree>
    <p:extLst>
      <p:ext uri="{BB962C8B-B14F-4D97-AF65-F5344CB8AC3E}">
        <p14:creationId xmlns:p14="http://schemas.microsoft.com/office/powerpoint/2010/main" val="4097658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E361B8-7D68-469C-9A0B-4DDC3A24C06B}" type="datetimeFigureOut">
              <a:rPr lang="en-CA" smtClean="0"/>
              <a:t>2024-12-24</a:t>
            </a:fld>
            <a:endParaRPr lang="en-CA"/>
          </a:p>
        </p:txBody>
      </p:sp>
      <p:sp>
        <p:nvSpPr>
          <p:cNvPr id="5" name="Footer Placeholder 4"/>
          <p:cNvSpPr>
            <a:spLocks noGrp="1"/>
          </p:cNvSpPr>
          <p:nvPr>
            <p:ph type="ftr" sz="quarter" idx="11"/>
          </p:nvPr>
        </p:nvSpPr>
        <p:spPr/>
        <p:txBody>
          <a:bodyPr/>
          <a:lstStyle/>
          <a:p>
            <a:endParaRPr lang="en-CA"/>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DDB0CA4-0A55-48C9-A271-8DB2A67465E2}" type="slidenum">
              <a:rPr lang="en-CA" smtClean="0"/>
              <a:t>‹#›</a:t>
            </a:fld>
            <a:endParaRPr lang="en-CA"/>
          </a:p>
        </p:txBody>
      </p:sp>
    </p:spTree>
    <p:extLst>
      <p:ext uri="{BB962C8B-B14F-4D97-AF65-F5344CB8AC3E}">
        <p14:creationId xmlns:p14="http://schemas.microsoft.com/office/powerpoint/2010/main" val="39512503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4E361B8-7D68-469C-9A0B-4DDC3A24C06B}" type="datetimeFigureOut">
              <a:rPr lang="en-CA" smtClean="0"/>
              <a:t>2024-12-24</a:t>
            </a:fld>
            <a:endParaRPr lang="en-CA"/>
          </a:p>
        </p:txBody>
      </p:sp>
      <p:sp>
        <p:nvSpPr>
          <p:cNvPr id="5" name="Footer Placeholder 4"/>
          <p:cNvSpPr>
            <a:spLocks noGrp="1"/>
          </p:cNvSpPr>
          <p:nvPr>
            <p:ph type="ftr" sz="quarter" idx="11"/>
          </p:nvPr>
        </p:nvSpPr>
        <p:spPr/>
        <p:txBody>
          <a:bodyPr/>
          <a:lstStyle/>
          <a:p>
            <a:endParaRPr lang="en-CA"/>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DDB0CA4-0A55-48C9-A271-8DB2A67465E2}" type="slidenum">
              <a:rPr lang="en-CA" smtClean="0"/>
              <a:t>‹#›</a:t>
            </a:fld>
            <a:endParaRPr lang="en-CA"/>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74361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54E361B8-7D68-469C-9A0B-4DDC3A24C06B}" type="datetimeFigureOut">
              <a:rPr lang="en-CA" smtClean="0"/>
              <a:t>2024-12-24</a:t>
            </a:fld>
            <a:endParaRPr lang="en-CA"/>
          </a:p>
        </p:txBody>
      </p:sp>
      <p:sp>
        <p:nvSpPr>
          <p:cNvPr id="6" name="Footer Placeholder 5"/>
          <p:cNvSpPr>
            <a:spLocks noGrp="1"/>
          </p:cNvSpPr>
          <p:nvPr>
            <p:ph type="ftr" sz="quarter" idx="11"/>
          </p:nvPr>
        </p:nvSpPr>
        <p:spPr/>
        <p:txBody>
          <a:bodyPr/>
          <a:lstStyle/>
          <a:p>
            <a:endParaRPr lang="en-C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DB0CA4-0A55-48C9-A271-8DB2A67465E2}" type="slidenum">
              <a:rPr lang="en-CA" smtClean="0"/>
              <a:t>‹#›</a:t>
            </a:fld>
            <a:endParaRPr lang="en-CA"/>
          </a:p>
        </p:txBody>
      </p:sp>
    </p:spTree>
    <p:extLst>
      <p:ext uri="{BB962C8B-B14F-4D97-AF65-F5344CB8AC3E}">
        <p14:creationId xmlns:p14="http://schemas.microsoft.com/office/powerpoint/2010/main" val="26730496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54E361B8-7D68-469C-9A0B-4DDC3A24C06B}" type="datetimeFigureOut">
              <a:rPr lang="en-CA" smtClean="0"/>
              <a:t>2024-12-24</a:t>
            </a:fld>
            <a:endParaRPr lang="en-CA"/>
          </a:p>
        </p:txBody>
      </p:sp>
      <p:sp>
        <p:nvSpPr>
          <p:cNvPr id="6" name="Footer Placeholder 5"/>
          <p:cNvSpPr>
            <a:spLocks noGrp="1"/>
          </p:cNvSpPr>
          <p:nvPr>
            <p:ph type="ftr" sz="quarter" idx="11"/>
          </p:nvPr>
        </p:nvSpPr>
        <p:spPr/>
        <p:txBody>
          <a:bodyPr/>
          <a:lstStyle/>
          <a:p>
            <a:endParaRPr lang="en-CA"/>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DB0CA4-0A55-48C9-A271-8DB2A67465E2}" type="slidenum">
              <a:rPr lang="en-CA" smtClean="0"/>
              <a:t>‹#›</a:t>
            </a:fld>
            <a:endParaRPr lang="en-CA"/>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629017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54E361B8-7D68-469C-9A0B-4DDC3A24C06B}" type="datetimeFigureOut">
              <a:rPr lang="en-CA" smtClean="0"/>
              <a:t>2024-12-24</a:t>
            </a:fld>
            <a:endParaRPr lang="en-CA"/>
          </a:p>
        </p:txBody>
      </p:sp>
      <p:sp>
        <p:nvSpPr>
          <p:cNvPr id="6" name="Footer Placeholder 5"/>
          <p:cNvSpPr>
            <a:spLocks noGrp="1"/>
          </p:cNvSpPr>
          <p:nvPr>
            <p:ph type="ftr" sz="quarter" idx="11"/>
          </p:nvPr>
        </p:nvSpPr>
        <p:spPr/>
        <p:txBody>
          <a:bodyPr/>
          <a:lstStyle/>
          <a:p>
            <a:endParaRPr lang="en-C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DDB0CA4-0A55-48C9-A271-8DB2A67465E2}" type="slidenum">
              <a:rPr lang="en-CA" smtClean="0"/>
              <a:t>‹#›</a:t>
            </a:fld>
            <a:endParaRPr lang="en-CA"/>
          </a:p>
        </p:txBody>
      </p:sp>
    </p:spTree>
    <p:extLst>
      <p:ext uri="{BB962C8B-B14F-4D97-AF65-F5344CB8AC3E}">
        <p14:creationId xmlns:p14="http://schemas.microsoft.com/office/powerpoint/2010/main" val="8730548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E361B8-7D68-469C-9A0B-4DDC3A24C06B}" type="datetimeFigureOut">
              <a:rPr lang="en-CA" smtClean="0"/>
              <a:t>2024-12-24</a:t>
            </a:fld>
            <a:endParaRPr lang="en-CA"/>
          </a:p>
        </p:txBody>
      </p:sp>
      <p:sp>
        <p:nvSpPr>
          <p:cNvPr id="5" name="Footer Placeholder 4"/>
          <p:cNvSpPr>
            <a:spLocks noGrp="1"/>
          </p:cNvSpPr>
          <p:nvPr>
            <p:ph type="ftr" sz="quarter" idx="11"/>
          </p:nvPr>
        </p:nvSpPr>
        <p:spPr/>
        <p:txBody>
          <a:bodyPr/>
          <a:lstStyle/>
          <a:p>
            <a:endParaRPr lang="en-C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DB0CA4-0A55-48C9-A271-8DB2A67465E2}" type="slidenum">
              <a:rPr lang="en-CA" smtClean="0"/>
              <a:t>‹#›</a:t>
            </a:fld>
            <a:endParaRPr lang="en-CA"/>
          </a:p>
        </p:txBody>
      </p:sp>
    </p:spTree>
    <p:extLst>
      <p:ext uri="{BB962C8B-B14F-4D97-AF65-F5344CB8AC3E}">
        <p14:creationId xmlns:p14="http://schemas.microsoft.com/office/powerpoint/2010/main" val="1377923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E361B8-7D68-469C-9A0B-4DDC3A24C06B}" type="datetimeFigureOut">
              <a:rPr lang="en-CA" smtClean="0"/>
              <a:t>2024-12-24</a:t>
            </a:fld>
            <a:endParaRPr lang="en-CA"/>
          </a:p>
        </p:txBody>
      </p:sp>
      <p:sp>
        <p:nvSpPr>
          <p:cNvPr id="5" name="Footer Placeholder 4"/>
          <p:cNvSpPr>
            <a:spLocks noGrp="1"/>
          </p:cNvSpPr>
          <p:nvPr>
            <p:ph type="ftr" sz="quarter" idx="11"/>
          </p:nvPr>
        </p:nvSpPr>
        <p:spPr/>
        <p:txBody>
          <a:bodyPr/>
          <a:lstStyle/>
          <a:p>
            <a:endParaRPr lang="en-C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DDB0CA4-0A55-48C9-A271-8DB2A67465E2}" type="slidenum">
              <a:rPr lang="en-CA" smtClean="0"/>
              <a:t>‹#›</a:t>
            </a:fld>
            <a:endParaRPr lang="en-CA"/>
          </a:p>
        </p:txBody>
      </p:sp>
    </p:spTree>
    <p:extLst>
      <p:ext uri="{BB962C8B-B14F-4D97-AF65-F5344CB8AC3E}">
        <p14:creationId xmlns:p14="http://schemas.microsoft.com/office/powerpoint/2010/main" val="738029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4E361B8-7D68-469C-9A0B-4DDC3A24C06B}" type="datetimeFigureOut">
              <a:rPr lang="en-CA" smtClean="0"/>
              <a:t>2024-12-24</a:t>
            </a:fld>
            <a:endParaRPr lang="en-CA"/>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DDB0CA4-0A55-48C9-A271-8DB2A67465E2}" type="slidenum">
              <a:rPr lang="en-CA" smtClean="0"/>
              <a:t>‹#›</a:t>
            </a:fld>
            <a:endParaRPr lang="en-CA"/>
          </a:p>
        </p:txBody>
      </p:sp>
    </p:spTree>
    <p:extLst>
      <p:ext uri="{BB962C8B-B14F-4D97-AF65-F5344CB8AC3E}">
        <p14:creationId xmlns:p14="http://schemas.microsoft.com/office/powerpoint/2010/main" val="2979387013"/>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5FFA5E0-4C70-431D-A19D-18415F6C40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7" name="Picture 6">
            <a:extLst>
              <a:ext uri="{FF2B5EF4-FFF2-40B4-BE49-F238E27FC236}">
                <a16:creationId xmlns:a16="http://schemas.microsoft.com/office/drawing/2014/main" id="{EA9E5717-6C2D-80F2-34E4-AB964EA21E36}"/>
              </a:ext>
            </a:extLst>
          </p:cNvPr>
          <p:cNvPicPr>
            <a:picLocks noChangeAspect="1"/>
          </p:cNvPicPr>
          <p:nvPr/>
        </p:nvPicPr>
        <p:blipFill>
          <a:blip r:embed="rId2"/>
          <a:srcRect l="4000"/>
          <a:stretch/>
        </p:blipFill>
        <p:spPr>
          <a:xfrm>
            <a:off x="20" y="10"/>
            <a:ext cx="12191980" cy="6857990"/>
          </a:xfrm>
          <a:prstGeom prst="rect">
            <a:avLst/>
          </a:prstGeom>
        </p:spPr>
      </p:pic>
      <p:sp>
        <p:nvSpPr>
          <p:cNvPr id="15" name="Freeform: Shape 14">
            <a:extLst>
              <a:ext uri="{FF2B5EF4-FFF2-40B4-BE49-F238E27FC236}">
                <a16:creationId xmlns:a16="http://schemas.microsoft.com/office/drawing/2014/main" id="{BBE55C11-4C41-45E4-A00F-83DEE6BB5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3632297"/>
            <a:ext cx="7527616" cy="2170389"/>
          </a:xfrm>
          <a:custGeom>
            <a:avLst/>
            <a:gdLst>
              <a:gd name="connsiteX0" fmla="*/ 0 w 7527616"/>
              <a:gd name="connsiteY0" fmla="*/ 0 h 2170389"/>
              <a:gd name="connsiteX1" fmla="*/ 85411 w 7527616"/>
              <a:gd name="connsiteY1" fmla="*/ 0 h 2170389"/>
              <a:gd name="connsiteX2" fmla="*/ 926533 w 7527616"/>
              <a:gd name="connsiteY2" fmla="*/ 0 h 2170389"/>
              <a:gd name="connsiteX3" fmla="*/ 1114264 w 7527616"/>
              <a:gd name="connsiteY3" fmla="*/ 0 h 2170389"/>
              <a:gd name="connsiteX4" fmla="*/ 6544376 w 7527616"/>
              <a:gd name="connsiteY4" fmla="*/ 0 h 2170389"/>
              <a:gd name="connsiteX5" fmla="*/ 6610082 w 7527616"/>
              <a:gd name="connsiteY5" fmla="*/ 26276 h 2170389"/>
              <a:gd name="connsiteX6" fmla="*/ 6619468 w 7527616"/>
              <a:gd name="connsiteY6" fmla="*/ 36786 h 2170389"/>
              <a:gd name="connsiteX7" fmla="*/ 7506496 w 7527616"/>
              <a:gd name="connsiteY7" fmla="*/ 1024760 h 2170389"/>
              <a:gd name="connsiteX8" fmla="*/ 7506496 w 7527616"/>
              <a:gd name="connsiteY8" fmla="*/ 1140374 h 2170389"/>
              <a:gd name="connsiteX9" fmla="*/ 6619468 w 7527616"/>
              <a:gd name="connsiteY9" fmla="*/ 2133603 h 2170389"/>
              <a:gd name="connsiteX10" fmla="*/ 6610082 w 7527616"/>
              <a:gd name="connsiteY10" fmla="*/ 2144113 h 2170389"/>
              <a:gd name="connsiteX11" fmla="*/ 6544376 w 7527616"/>
              <a:gd name="connsiteY11" fmla="*/ 2170389 h 2170389"/>
              <a:gd name="connsiteX12" fmla="*/ 1114264 w 7527616"/>
              <a:gd name="connsiteY12" fmla="*/ 2170389 h 2170389"/>
              <a:gd name="connsiteX13" fmla="*/ 926533 w 7527616"/>
              <a:gd name="connsiteY13" fmla="*/ 2170389 h 2170389"/>
              <a:gd name="connsiteX14" fmla="*/ 146150 w 7527616"/>
              <a:gd name="connsiteY14" fmla="*/ 2170389 h 2170389"/>
              <a:gd name="connsiteX15" fmla="*/ 0 w 7527616"/>
              <a:gd name="connsiteY15" fmla="*/ 2170389 h 2170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527616" h="2170389">
                <a:moveTo>
                  <a:pt x="0" y="0"/>
                </a:moveTo>
                <a:lnTo>
                  <a:pt x="85411" y="0"/>
                </a:lnTo>
                <a:cubicBezTo>
                  <a:pt x="290008" y="0"/>
                  <a:pt x="562804" y="0"/>
                  <a:pt x="926533" y="0"/>
                </a:cubicBezTo>
                <a:cubicBezTo>
                  <a:pt x="926533" y="0"/>
                  <a:pt x="926533" y="0"/>
                  <a:pt x="1114264" y="0"/>
                </a:cubicBezTo>
                <a:cubicBezTo>
                  <a:pt x="1114264" y="0"/>
                  <a:pt x="1114264" y="0"/>
                  <a:pt x="6544376" y="0"/>
                </a:cubicBezTo>
                <a:cubicBezTo>
                  <a:pt x="6567842" y="0"/>
                  <a:pt x="6591309" y="10510"/>
                  <a:pt x="6610082" y="26276"/>
                </a:cubicBezTo>
                <a:cubicBezTo>
                  <a:pt x="6614775" y="26276"/>
                  <a:pt x="6619468" y="31531"/>
                  <a:pt x="6619468" y="36786"/>
                </a:cubicBezTo>
                <a:cubicBezTo>
                  <a:pt x="6619468" y="36786"/>
                  <a:pt x="6619468" y="36786"/>
                  <a:pt x="7506496" y="1024760"/>
                </a:cubicBezTo>
                <a:cubicBezTo>
                  <a:pt x="7534656" y="1056291"/>
                  <a:pt x="7534656" y="1108843"/>
                  <a:pt x="7506496" y="1140374"/>
                </a:cubicBezTo>
                <a:cubicBezTo>
                  <a:pt x="7506496" y="1140374"/>
                  <a:pt x="7506496" y="1140374"/>
                  <a:pt x="6619468" y="2133603"/>
                </a:cubicBezTo>
                <a:cubicBezTo>
                  <a:pt x="6619468" y="2133603"/>
                  <a:pt x="6614775" y="2138858"/>
                  <a:pt x="6610082" y="2144113"/>
                </a:cubicBezTo>
                <a:cubicBezTo>
                  <a:pt x="6591309" y="2159879"/>
                  <a:pt x="6567842" y="2170389"/>
                  <a:pt x="6544376" y="2170389"/>
                </a:cubicBezTo>
                <a:cubicBezTo>
                  <a:pt x="6544376" y="2170389"/>
                  <a:pt x="6544376" y="2170389"/>
                  <a:pt x="1114264" y="2170389"/>
                </a:cubicBezTo>
                <a:cubicBezTo>
                  <a:pt x="1114264" y="2170389"/>
                  <a:pt x="1114264" y="2170389"/>
                  <a:pt x="926533" y="2170389"/>
                </a:cubicBezTo>
                <a:cubicBezTo>
                  <a:pt x="926533" y="2170389"/>
                  <a:pt x="926533" y="2170389"/>
                  <a:pt x="146150" y="2170389"/>
                </a:cubicBezTo>
                <a:lnTo>
                  <a:pt x="0" y="2170389"/>
                </a:lnTo>
                <a:close/>
              </a:path>
            </a:pathLst>
          </a:custGeom>
          <a:solidFill>
            <a:srgbClr val="3E6D06">
              <a:alpha val="87843"/>
            </a:srgb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8" name="TextBox 7">
            <a:extLst>
              <a:ext uri="{FF2B5EF4-FFF2-40B4-BE49-F238E27FC236}">
                <a16:creationId xmlns:a16="http://schemas.microsoft.com/office/drawing/2014/main" id="{80FAFE3B-B1B0-1586-D1B7-BFA08D3BDAA0}"/>
              </a:ext>
            </a:extLst>
          </p:cNvPr>
          <p:cNvSpPr txBox="1"/>
          <p:nvPr/>
        </p:nvSpPr>
        <p:spPr>
          <a:xfrm>
            <a:off x="1083733" y="3889218"/>
            <a:ext cx="5478432" cy="103209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100">
                <a:solidFill>
                  <a:srgbClr val="FEFFFF"/>
                </a:solidFill>
                <a:latin typeface="+mj-lt"/>
                <a:ea typeface="+mj-ea"/>
                <a:cs typeface="+mj-cs"/>
              </a:rPr>
              <a:t>CANADA HOUSING MARKET PREDICTIVE ANALYTICS</a:t>
            </a:r>
          </a:p>
        </p:txBody>
      </p:sp>
      <p:sp>
        <p:nvSpPr>
          <p:cNvPr id="2" name="TextBox 1"/>
          <p:cNvSpPr txBox="1"/>
          <p:nvPr/>
        </p:nvSpPr>
        <p:spPr>
          <a:xfrm>
            <a:off x="1083733" y="4944531"/>
            <a:ext cx="5454227" cy="524935"/>
          </a:xfrm>
          <a:prstGeom prst="rect">
            <a:avLst/>
          </a:prstGeom>
        </p:spPr>
        <p:txBody>
          <a:bodyPr vert="horz" lIns="91440" tIns="45720" rIns="91440" bIns="45720" rtlCol="0" anchor="t">
            <a:normAutofit/>
          </a:bodyPr>
          <a:lstStyle/>
          <a:p>
            <a:pPr>
              <a:spcBef>
                <a:spcPts val="1000"/>
              </a:spcBef>
              <a:buClr>
                <a:schemeClr val="accent1"/>
              </a:buClr>
            </a:pPr>
            <a:r>
              <a:rPr lang="en-US">
                <a:solidFill>
                  <a:srgbClr val="FEFFFF"/>
                </a:solidFill>
              </a:rPr>
              <a:t>Presented By: Nauman Khalid</a:t>
            </a:r>
          </a:p>
        </p:txBody>
      </p:sp>
    </p:spTree>
    <p:extLst>
      <p:ext uri="{BB962C8B-B14F-4D97-AF65-F5344CB8AC3E}">
        <p14:creationId xmlns:p14="http://schemas.microsoft.com/office/powerpoint/2010/main" val="267681306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6AB911-182A-C216-37CB-10F89E222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ABB04-A391-B5F1-57DA-03DFA38CF757}"/>
              </a:ext>
            </a:extLst>
          </p:cNvPr>
          <p:cNvSpPr>
            <a:spLocks noGrp="1"/>
          </p:cNvSpPr>
          <p:nvPr>
            <p:ph type="title"/>
          </p:nvPr>
        </p:nvSpPr>
        <p:spPr>
          <a:xfrm>
            <a:off x="640080" y="325369"/>
            <a:ext cx="4368602" cy="1956841"/>
          </a:xfrm>
        </p:spPr>
        <p:txBody>
          <a:bodyPr anchor="b">
            <a:normAutofit/>
          </a:bodyPr>
          <a:lstStyle/>
          <a:p>
            <a:r>
              <a:rPr lang="en-CA" sz="4000" dirty="0">
                <a:latin typeface="Arial" panose="020B0604020202020204" pitchFamily="34" charset="0"/>
                <a:cs typeface="Arial" panose="020B0604020202020204" pitchFamily="34" charset="0"/>
              </a:rPr>
              <a:t>About this Data…</a:t>
            </a:r>
          </a:p>
        </p:txBody>
      </p:sp>
      <p:sp>
        <p:nvSpPr>
          <p:cNvPr id="3" name="Content Placeholder 2">
            <a:extLst>
              <a:ext uri="{FF2B5EF4-FFF2-40B4-BE49-F238E27FC236}">
                <a16:creationId xmlns:a16="http://schemas.microsoft.com/office/drawing/2014/main" id="{24F5CF9C-16E2-65E3-7CBE-E4EF6F6620B1}"/>
              </a:ext>
            </a:extLst>
          </p:cNvPr>
          <p:cNvSpPr>
            <a:spLocks noGrp="1"/>
          </p:cNvSpPr>
          <p:nvPr>
            <p:ph idx="1"/>
          </p:nvPr>
        </p:nvSpPr>
        <p:spPr>
          <a:xfrm>
            <a:off x="702586" y="2668713"/>
            <a:ext cx="4243589" cy="3320668"/>
          </a:xfrm>
        </p:spPr>
        <p:txBody>
          <a:bodyPr>
            <a:normAutofit/>
          </a:bodyPr>
          <a:lstStyle/>
          <a:p>
            <a:pPr marL="0" indent="0">
              <a:buNone/>
            </a:pPr>
            <a:r>
              <a:rPr lang="en-US" sz="2200" dirty="0">
                <a:latin typeface="Arial" panose="020B0604020202020204" pitchFamily="34" charset="0"/>
                <a:cs typeface="Arial" panose="020B0604020202020204" pitchFamily="34" charset="0"/>
              </a:rPr>
              <a:t>The dataset comprises 30,000+ house listings across Canada (up to 2023), featuring attributes such as price, city, province, address, bedrooms, bathrooms, and median income. The objective of this exercise is to provide predictive analytics of house prices all across Canada.</a:t>
            </a:r>
            <a:endParaRPr lang="en-CA" sz="2200" dirty="0">
              <a:latin typeface="Arial" panose="020B0604020202020204" pitchFamily="34" charset="0"/>
              <a:cs typeface="Arial" panose="020B0604020202020204" pitchFamily="34" charset="0"/>
            </a:endParaRPr>
          </a:p>
          <a:p>
            <a:pPr marL="0" indent="0">
              <a:buNone/>
            </a:pPr>
            <a:endParaRPr lang="en-CA" sz="2200" dirty="0">
              <a:latin typeface="Arial" panose="020B0604020202020204" pitchFamily="34" charset="0"/>
              <a:cs typeface="Arial" panose="020B0604020202020204" pitchFamily="34" charset="0"/>
            </a:endParaRPr>
          </a:p>
        </p:txBody>
      </p:sp>
      <p:pic>
        <p:nvPicPr>
          <p:cNvPr id="5" name="Picture 4" descr="Houses in a subdivision">
            <a:extLst>
              <a:ext uri="{FF2B5EF4-FFF2-40B4-BE49-F238E27FC236}">
                <a16:creationId xmlns:a16="http://schemas.microsoft.com/office/drawing/2014/main" id="{DBD53AE3-0D18-8423-1599-7957ECA49BF1}"/>
              </a:ext>
            </a:extLst>
          </p:cNvPr>
          <p:cNvPicPr>
            <a:picLocks noChangeAspect="1"/>
          </p:cNvPicPr>
          <p:nvPr/>
        </p:nvPicPr>
        <p:blipFill>
          <a:blip r:embed="rId2"/>
          <a:srcRect l="22422" r="10625"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632612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6410FB-3E46-A749-7BAF-74D22C93B2AC}"/>
              </a:ext>
            </a:extLst>
          </p:cNvPr>
          <p:cNvSpPr txBox="1"/>
          <p:nvPr/>
        </p:nvSpPr>
        <p:spPr>
          <a:xfrm>
            <a:off x="3862013" y="172659"/>
            <a:ext cx="3612985" cy="461665"/>
          </a:xfrm>
          <a:prstGeom prst="rect">
            <a:avLst/>
          </a:prstGeom>
          <a:noFill/>
        </p:spPr>
        <p:txBody>
          <a:bodyPr wrap="square" rtlCol="0">
            <a:spAutoFit/>
          </a:bodyPr>
          <a:lstStyle/>
          <a:p>
            <a:r>
              <a:rPr lang="en-CA" sz="2400" b="1" dirty="0">
                <a:solidFill>
                  <a:srgbClr val="0070C0"/>
                </a:solidFill>
              </a:rPr>
              <a:t>PYTHON CODE SNIPPET</a:t>
            </a:r>
          </a:p>
        </p:txBody>
      </p:sp>
      <p:pic>
        <p:nvPicPr>
          <p:cNvPr id="4" name="Picture 3">
            <a:extLst>
              <a:ext uri="{FF2B5EF4-FFF2-40B4-BE49-F238E27FC236}">
                <a16:creationId xmlns:a16="http://schemas.microsoft.com/office/drawing/2014/main" id="{88ACC60D-31F4-129F-FC48-C7F43AF13304}"/>
              </a:ext>
            </a:extLst>
          </p:cNvPr>
          <p:cNvPicPr>
            <a:picLocks noChangeAspect="1"/>
          </p:cNvPicPr>
          <p:nvPr/>
        </p:nvPicPr>
        <p:blipFill>
          <a:blip r:embed="rId2"/>
          <a:stretch>
            <a:fillRect/>
          </a:stretch>
        </p:blipFill>
        <p:spPr>
          <a:xfrm>
            <a:off x="3352800" y="2479095"/>
            <a:ext cx="4927600" cy="3831267"/>
          </a:xfrm>
          <a:prstGeom prst="rect">
            <a:avLst/>
          </a:prstGeom>
        </p:spPr>
      </p:pic>
      <p:pic>
        <p:nvPicPr>
          <p:cNvPr id="9" name="Picture 8">
            <a:extLst>
              <a:ext uri="{FF2B5EF4-FFF2-40B4-BE49-F238E27FC236}">
                <a16:creationId xmlns:a16="http://schemas.microsoft.com/office/drawing/2014/main" id="{C07F79CB-5894-89E2-B394-BC4E24BF8724}"/>
              </a:ext>
            </a:extLst>
          </p:cNvPr>
          <p:cNvPicPr>
            <a:picLocks noChangeAspect="1"/>
          </p:cNvPicPr>
          <p:nvPr/>
        </p:nvPicPr>
        <p:blipFill>
          <a:blip r:embed="rId3"/>
          <a:stretch>
            <a:fillRect/>
          </a:stretch>
        </p:blipFill>
        <p:spPr>
          <a:xfrm>
            <a:off x="1666225" y="1334033"/>
            <a:ext cx="9316750" cy="1143160"/>
          </a:xfrm>
          <a:prstGeom prst="rect">
            <a:avLst/>
          </a:prstGeom>
        </p:spPr>
      </p:pic>
    </p:spTree>
    <p:extLst>
      <p:ext uri="{BB962C8B-B14F-4D97-AF65-F5344CB8AC3E}">
        <p14:creationId xmlns:p14="http://schemas.microsoft.com/office/powerpoint/2010/main" val="2558952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3D9AEEE-1CCD-43C0-BA3E-16D60A6E23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907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BCD431-0963-EAA1-54FD-2FB353BC0126}"/>
              </a:ext>
            </a:extLst>
          </p:cNvPr>
          <p:cNvSpPr>
            <a:spLocks noGrp="1"/>
          </p:cNvSpPr>
          <p:nvPr>
            <p:ph type="title"/>
          </p:nvPr>
        </p:nvSpPr>
        <p:spPr>
          <a:xfrm>
            <a:off x="1259893" y="3101093"/>
            <a:ext cx="2454052" cy="3029344"/>
          </a:xfrm>
        </p:spPr>
        <p:txBody>
          <a:bodyPr>
            <a:normAutofit/>
          </a:bodyPr>
          <a:lstStyle/>
          <a:p>
            <a:r>
              <a:rPr lang="en-CA" sz="3200" b="1">
                <a:solidFill>
                  <a:schemeClr val="bg1"/>
                </a:solidFill>
              </a:rPr>
              <a:t>Models</a:t>
            </a:r>
          </a:p>
        </p:txBody>
      </p:sp>
      <p:sp>
        <p:nvSpPr>
          <p:cNvPr id="11" name="Freeform 11">
            <a:extLst>
              <a:ext uri="{FF2B5EF4-FFF2-40B4-BE49-F238E27FC236}">
                <a16:creationId xmlns:a16="http://schemas.microsoft.com/office/drawing/2014/main" id="{60F880A6-33D3-4EEC-A780-B73559B9F2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59" y="3179901"/>
            <a:ext cx="1098194"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txBody>
          <a:bodyPr/>
          <a:lstStyle/>
          <a:p>
            <a:endParaRPr lang="en-CA"/>
          </a:p>
        </p:txBody>
      </p:sp>
      <p:sp useBgFill="1">
        <p:nvSpPr>
          <p:cNvPr id="13" name="Rectangle 12">
            <a:extLst>
              <a:ext uri="{FF2B5EF4-FFF2-40B4-BE49-F238E27FC236}">
                <a16:creationId xmlns:a16="http://schemas.microsoft.com/office/drawing/2014/main" id="{2C6246ED-0535-4496-A8F6-1E80CC4E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95736" y="0"/>
            <a:ext cx="739626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2607632-209F-08B3-C079-009F22A54E39}"/>
              </a:ext>
            </a:extLst>
          </p:cNvPr>
          <p:cNvGraphicFramePr>
            <a:graphicFrameLocks noGrp="1"/>
          </p:cNvGraphicFramePr>
          <p:nvPr>
            <p:ph idx="1"/>
            <p:extLst>
              <p:ext uri="{D42A27DB-BD31-4B8C-83A1-F6EECF244321}">
                <p14:modId xmlns:p14="http://schemas.microsoft.com/office/powerpoint/2010/main" val="3699386352"/>
              </p:ext>
            </p:extLst>
          </p:nvPr>
        </p:nvGraphicFramePr>
        <p:xfrm>
          <a:off x="4713144" y="641551"/>
          <a:ext cx="6832212" cy="52647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1923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62B45-590E-62E4-F029-D5F696F8BA4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C0FE26E-5C0A-29A4-13CF-F7A8EC5829DE}"/>
              </a:ext>
            </a:extLst>
          </p:cNvPr>
          <p:cNvSpPr txBox="1"/>
          <p:nvPr/>
        </p:nvSpPr>
        <p:spPr>
          <a:xfrm>
            <a:off x="3862013" y="172659"/>
            <a:ext cx="3612985" cy="461665"/>
          </a:xfrm>
          <a:prstGeom prst="rect">
            <a:avLst/>
          </a:prstGeom>
          <a:noFill/>
        </p:spPr>
        <p:txBody>
          <a:bodyPr wrap="square" rtlCol="0">
            <a:spAutoFit/>
          </a:bodyPr>
          <a:lstStyle/>
          <a:p>
            <a:r>
              <a:rPr lang="en-CA" sz="2400" b="1" dirty="0">
                <a:solidFill>
                  <a:srgbClr val="0070C0"/>
                </a:solidFill>
              </a:rPr>
              <a:t>PYTHON CODE SNIPPET</a:t>
            </a:r>
          </a:p>
        </p:txBody>
      </p:sp>
      <p:pic>
        <p:nvPicPr>
          <p:cNvPr id="7" name="Picture 6">
            <a:extLst>
              <a:ext uri="{FF2B5EF4-FFF2-40B4-BE49-F238E27FC236}">
                <a16:creationId xmlns:a16="http://schemas.microsoft.com/office/drawing/2014/main" id="{C98C1BC5-2EA8-2F3E-8EF9-0F39A5BA91E4}"/>
              </a:ext>
            </a:extLst>
          </p:cNvPr>
          <p:cNvPicPr>
            <a:picLocks noChangeAspect="1"/>
          </p:cNvPicPr>
          <p:nvPr/>
        </p:nvPicPr>
        <p:blipFill>
          <a:blip r:embed="rId2"/>
          <a:stretch>
            <a:fillRect/>
          </a:stretch>
        </p:blipFill>
        <p:spPr>
          <a:xfrm>
            <a:off x="1691704" y="634324"/>
            <a:ext cx="10246296" cy="6239746"/>
          </a:xfrm>
          <a:prstGeom prst="rect">
            <a:avLst/>
          </a:prstGeom>
        </p:spPr>
      </p:pic>
    </p:spTree>
    <p:extLst>
      <p:ext uri="{BB962C8B-B14F-4D97-AF65-F5344CB8AC3E}">
        <p14:creationId xmlns:p14="http://schemas.microsoft.com/office/powerpoint/2010/main" val="2868529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361C4-DF53-D149-AB8F-D9758A723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557222-2F04-A2D1-E4C3-EB0725B9E4F8}"/>
              </a:ext>
            </a:extLst>
          </p:cNvPr>
          <p:cNvSpPr>
            <a:spLocks noGrp="1"/>
          </p:cNvSpPr>
          <p:nvPr>
            <p:ph type="title"/>
          </p:nvPr>
        </p:nvSpPr>
        <p:spPr>
          <a:xfrm>
            <a:off x="647700" y="230618"/>
            <a:ext cx="10515600" cy="797753"/>
          </a:xfrm>
        </p:spPr>
        <p:txBody>
          <a:bodyPr/>
          <a:lstStyle/>
          <a:p>
            <a:r>
              <a:rPr lang="en-CA" dirty="0">
                <a:latin typeface="Arial" panose="020B0604020202020204" pitchFamily="34" charset="0"/>
                <a:cs typeface="Arial" panose="020B0604020202020204" pitchFamily="34" charset="0"/>
              </a:rPr>
              <a:t>Linear Regression Model</a:t>
            </a:r>
          </a:p>
        </p:txBody>
      </p:sp>
      <p:pic>
        <p:nvPicPr>
          <p:cNvPr id="7" name="Picture 6">
            <a:extLst>
              <a:ext uri="{FF2B5EF4-FFF2-40B4-BE49-F238E27FC236}">
                <a16:creationId xmlns:a16="http://schemas.microsoft.com/office/drawing/2014/main" id="{53F26558-351D-BBF3-D798-8A41EF5E285A}"/>
              </a:ext>
            </a:extLst>
          </p:cNvPr>
          <p:cNvPicPr>
            <a:picLocks noChangeAspect="1"/>
          </p:cNvPicPr>
          <p:nvPr/>
        </p:nvPicPr>
        <p:blipFill>
          <a:blip r:embed="rId2"/>
          <a:stretch>
            <a:fillRect/>
          </a:stretch>
        </p:blipFill>
        <p:spPr>
          <a:xfrm>
            <a:off x="153426" y="1337106"/>
            <a:ext cx="8049748" cy="5201376"/>
          </a:xfrm>
          <a:prstGeom prst="rect">
            <a:avLst/>
          </a:prstGeom>
        </p:spPr>
      </p:pic>
      <p:sp>
        <p:nvSpPr>
          <p:cNvPr id="9" name="TextBox 8">
            <a:extLst>
              <a:ext uri="{FF2B5EF4-FFF2-40B4-BE49-F238E27FC236}">
                <a16:creationId xmlns:a16="http://schemas.microsoft.com/office/drawing/2014/main" id="{0199A8F8-484C-E9B8-BACA-BAF31AEE8D42}"/>
              </a:ext>
            </a:extLst>
          </p:cNvPr>
          <p:cNvSpPr txBox="1"/>
          <p:nvPr/>
        </p:nvSpPr>
        <p:spPr>
          <a:xfrm>
            <a:off x="8547149" y="230618"/>
            <a:ext cx="3644851" cy="923330"/>
          </a:xfrm>
          <a:prstGeom prst="rect">
            <a:avLst/>
          </a:prstGeom>
          <a:noFill/>
        </p:spPr>
        <p:txBody>
          <a:bodyPr wrap="square" rtlCol="0">
            <a:spAutoFit/>
          </a:bodyPr>
          <a:lstStyle/>
          <a:p>
            <a:r>
              <a:rPr lang="en-CA" b="0" i="0" dirty="0">
                <a:effectLst/>
                <a:latin typeface="Consolas" panose="020B0609020204030204" pitchFamily="49" charset="0"/>
              </a:rPr>
              <a:t>Linear Regression  Results: </a:t>
            </a:r>
            <a:br>
              <a:rPr lang="en-CA" b="0" i="0" dirty="0">
                <a:effectLst/>
                <a:latin typeface="Consolas" panose="020B0609020204030204" pitchFamily="49" charset="0"/>
              </a:rPr>
            </a:br>
            <a:r>
              <a:rPr lang="en-CA" b="0" i="0" dirty="0">
                <a:effectLst/>
                <a:latin typeface="Consolas" panose="020B0609020204030204" pitchFamily="49" charset="0"/>
              </a:rPr>
              <a:t>MAE: 451463.0711</a:t>
            </a:r>
            <a:br>
              <a:rPr lang="en-CA" b="0" i="0" dirty="0">
                <a:effectLst/>
                <a:latin typeface="Consolas" panose="020B0609020204030204" pitchFamily="49" charset="0"/>
              </a:rPr>
            </a:br>
            <a:r>
              <a:rPr lang="en-CA" b="0" i="0" dirty="0">
                <a:effectLst/>
                <a:latin typeface="Consolas" panose="020B0609020204030204" pitchFamily="49" charset="0"/>
              </a:rPr>
              <a:t>R² Score: 0.2616</a:t>
            </a:r>
            <a:endParaRPr lang="en-CA" dirty="0"/>
          </a:p>
        </p:txBody>
      </p:sp>
      <p:sp>
        <p:nvSpPr>
          <p:cNvPr id="3" name="TextBox 2">
            <a:extLst>
              <a:ext uri="{FF2B5EF4-FFF2-40B4-BE49-F238E27FC236}">
                <a16:creationId xmlns:a16="http://schemas.microsoft.com/office/drawing/2014/main" id="{E648391B-95C4-F767-B992-CA060F75E1F8}"/>
              </a:ext>
            </a:extLst>
          </p:cNvPr>
          <p:cNvSpPr txBox="1"/>
          <p:nvPr/>
        </p:nvSpPr>
        <p:spPr>
          <a:xfrm>
            <a:off x="8547149" y="1337106"/>
            <a:ext cx="3386943" cy="5416868"/>
          </a:xfrm>
          <a:prstGeom prst="rect">
            <a:avLst/>
          </a:prstGeom>
          <a:noFill/>
        </p:spPr>
        <p:txBody>
          <a:bodyPr wrap="square" rtlCol="0">
            <a:spAutoFit/>
          </a:bodyPr>
          <a:lstStyle/>
          <a:p>
            <a:pPr algn="just"/>
            <a:r>
              <a:rPr lang="en-US" sz="1200" dirty="0">
                <a:latin typeface="Arial" panose="020B0604020202020204" pitchFamily="34" charset="0"/>
                <a:cs typeface="Arial" panose="020B0604020202020204" pitchFamily="34" charset="0"/>
              </a:rPr>
              <a:t>Each blue dots represent the actual predictions made by the model. These dots are deviated significantly from the red line means many predictions are inaccurate.</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Red line is the "Perfect Prediction Line" (y = x), where the predicted prices would perfectly match the actual prices. Points lie on red line are perfectly predicted by the model.</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Most of the data points are clustered in the lower price range (0 to ~4.8 millions).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For larger house prices (above ~ 1e7), the model underpredicts the values. The blue dots are far below the red line in this region.</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A few extreme points (e.g., very high actual prices with low predictions) suggest that the model fails to account for unusual or outlier cases.</a:t>
            </a:r>
          </a:p>
          <a:p>
            <a:pPr algn="just"/>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The model struggles to predict higher house prices accurately, likely due to insufficient data for high-value properties or limitations in the linear regression model.</a:t>
            </a:r>
          </a:p>
          <a:p>
            <a:r>
              <a:rPr lang="en-US" sz="1600" dirty="0">
                <a:latin typeface="Arial" panose="020B0604020202020204" pitchFamily="34" charset="0"/>
                <a:cs typeface="Arial" panose="020B0604020202020204" pitchFamily="34" charset="0"/>
              </a:rPr>
              <a:t>.</a:t>
            </a:r>
            <a:endParaRPr lang="en-CA" sz="1600" dirty="0">
              <a:latin typeface="Arial" panose="020B0604020202020204" pitchFamily="34" charset="0"/>
              <a:cs typeface="Arial" panose="020B0604020202020204" pitchFamily="34" charset="0"/>
            </a:endParaRPr>
          </a:p>
          <a:p>
            <a:endParaRPr lang="en-CA" dirty="0"/>
          </a:p>
        </p:txBody>
      </p:sp>
    </p:spTree>
    <p:extLst>
      <p:ext uri="{BB962C8B-B14F-4D97-AF65-F5344CB8AC3E}">
        <p14:creationId xmlns:p14="http://schemas.microsoft.com/office/powerpoint/2010/main" val="1032908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C10AB-0782-A0B8-7D9E-591612D00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C814F-E47A-D9DF-5558-CF164130D9BD}"/>
              </a:ext>
            </a:extLst>
          </p:cNvPr>
          <p:cNvSpPr>
            <a:spLocks noGrp="1"/>
          </p:cNvSpPr>
          <p:nvPr>
            <p:ph type="title"/>
          </p:nvPr>
        </p:nvSpPr>
        <p:spPr/>
        <p:txBody>
          <a:bodyPr>
            <a:normAutofit/>
          </a:bodyPr>
          <a:lstStyle/>
          <a:p>
            <a:r>
              <a:rPr lang="en-US" sz="4000" dirty="0">
                <a:latin typeface="Arial" panose="020B0604020202020204" pitchFamily="34" charset="0"/>
                <a:cs typeface="Arial" panose="020B0604020202020204" pitchFamily="34" charset="0"/>
              </a:rPr>
              <a:t>Explanation of the Plot Results</a:t>
            </a:r>
          </a:p>
        </p:txBody>
      </p:sp>
      <p:sp>
        <p:nvSpPr>
          <p:cNvPr id="3" name="Content Placeholder 2">
            <a:extLst>
              <a:ext uri="{FF2B5EF4-FFF2-40B4-BE49-F238E27FC236}">
                <a16:creationId xmlns:a16="http://schemas.microsoft.com/office/drawing/2014/main" id="{C7F4A498-9C53-2F81-C76A-48C4B8934621}"/>
              </a:ext>
            </a:extLst>
          </p:cNvPr>
          <p:cNvSpPr>
            <a:spLocks noGrp="1"/>
          </p:cNvSpPr>
          <p:nvPr>
            <p:ph idx="1"/>
          </p:nvPr>
        </p:nvSpPr>
        <p:spPr>
          <a:xfrm>
            <a:off x="838200" y="1503118"/>
            <a:ext cx="10515600" cy="4241189"/>
          </a:xfrm>
        </p:spPr>
        <p:txBody>
          <a:bodyPr>
            <a:normAutofit fontScale="25000" lnSpcReduction="20000"/>
          </a:bodyPr>
          <a:lstStyle/>
          <a:p>
            <a:endParaRPr lang="en-US" sz="5600" dirty="0">
              <a:latin typeface="Arial" panose="020B0604020202020204" pitchFamily="34" charset="0"/>
              <a:cs typeface="Arial" panose="020B0604020202020204" pitchFamily="34" charset="0"/>
            </a:endParaRPr>
          </a:p>
          <a:p>
            <a:pPr marL="0" indent="0">
              <a:buFont typeface="Arial" panose="020B0604020202020204" pitchFamily="34" charset="0"/>
              <a:buNone/>
            </a:pPr>
            <a:r>
              <a:rPr lang="en-US" sz="5600" b="1" dirty="0">
                <a:latin typeface="Arial" panose="020B0604020202020204" pitchFamily="34" charset="0"/>
                <a:cs typeface="Arial" panose="020B0604020202020204" pitchFamily="34" charset="0"/>
              </a:rPr>
              <a:t>     Metrics Overview:</a:t>
            </a:r>
          </a:p>
          <a:p>
            <a:pPr marL="0" indent="0">
              <a:spcAft>
                <a:spcPts val="600"/>
              </a:spcAft>
              <a:buFont typeface="Arial" panose="020B0604020202020204" pitchFamily="34" charset="0"/>
              <a:buNone/>
            </a:pPr>
            <a:endParaRPr lang="en-US" sz="5600" b="1" dirty="0">
              <a:latin typeface="Arial" panose="020B0604020202020204" pitchFamily="34" charset="0"/>
              <a:cs typeface="Arial" panose="020B0604020202020204" pitchFamily="34" charset="0"/>
            </a:endParaRPr>
          </a:p>
          <a:p>
            <a:pPr>
              <a:lnSpc>
                <a:spcPct val="120000"/>
              </a:lnSpc>
              <a:spcBef>
                <a:spcPts val="0"/>
              </a:spcBef>
              <a:spcAft>
                <a:spcPts val="1200"/>
              </a:spcAft>
            </a:pPr>
            <a:r>
              <a:rPr lang="en-US" sz="5600" b="1" dirty="0">
                <a:latin typeface="Arial" panose="020B0604020202020204" pitchFamily="34" charset="0"/>
                <a:cs typeface="Arial" panose="020B0604020202020204" pitchFamily="34" charset="0"/>
              </a:rPr>
              <a:t>Mean Absolute Error (MAE): </a:t>
            </a:r>
            <a:r>
              <a:rPr lang="en-CA" sz="5600" b="1" i="0" dirty="0">
                <a:effectLst/>
                <a:latin typeface="Arial" panose="020B0604020202020204" pitchFamily="34" charset="0"/>
                <a:cs typeface="Arial" panose="020B0604020202020204" pitchFamily="34" charset="0"/>
              </a:rPr>
              <a:t>451463.</a:t>
            </a:r>
            <a:r>
              <a:rPr lang="en-US" sz="5600" dirty="0">
                <a:latin typeface="Arial" panose="020B0604020202020204" pitchFamily="34" charset="0"/>
                <a:cs typeface="Arial" panose="020B0604020202020204" pitchFamily="34" charset="0"/>
              </a:rPr>
              <a:t>     It is the average of the absolute differences between the actual values and the predicted values. It measures how far the predictions are, on average from the actual values.</a:t>
            </a:r>
          </a:p>
          <a:p>
            <a:pPr marL="0" indent="0">
              <a:spcBef>
                <a:spcPts val="0"/>
              </a:spcBef>
              <a:spcAft>
                <a:spcPts val="600"/>
              </a:spcAft>
              <a:buNone/>
            </a:pPr>
            <a:r>
              <a:rPr lang="en-US" sz="5600" b="1" dirty="0">
                <a:latin typeface="Arial" panose="020B0604020202020204" pitchFamily="34" charset="0"/>
                <a:cs typeface="Arial" panose="020B0604020202020204" pitchFamily="34" charset="0"/>
              </a:rPr>
              <a:t>       This means, on average, the model's predictions deviate from the actual house prices by about 451,463 units </a:t>
            </a:r>
          </a:p>
          <a:p>
            <a:pPr marL="0" indent="0">
              <a:spcBef>
                <a:spcPts val="0"/>
              </a:spcBef>
              <a:spcAft>
                <a:spcPts val="600"/>
              </a:spcAft>
              <a:buNone/>
            </a:pPr>
            <a:endParaRPr lang="en-US" sz="5600" b="1" dirty="0">
              <a:latin typeface="Arial" panose="020B0604020202020204" pitchFamily="34" charset="0"/>
              <a:cs typeface="Arial" panose="020B0604020202020204" pitchFamily="34" charset="0"/>
            </a:endParaRPr>
          </a:p>
          <a:p>
            <a:r>
              <a:rPr lang="en-US" sz="5600" b="1" dirty="0">
                <a:latin typeface="Arial" panose="020B0604020202020204" pitchFamily="34" charset="0"/>
                <a:cs typeface="Arial" panose="020B0604020202020204" pitchFamily="34" charset="0"/>
              </a:rPr>
              <a:t>R² Score: 0.2616</a:t>
            </a:r>
          </a:p>
          <a:p>
            <a:pPr marL="0" indent="0">
              <a:buNone/>
            </a:pPr>
            <a:endParaRPr lang="en-US" sz="5600" b="1" dirty="0">
              <a:latin typeface="Arial" panose="020B0604020202020204" pitchFamily="34" charset="0"/>
              <a:cs typeface="Arial" panose="020B0604020202020204" pitchFamily="34" charset="0"/>
            </a:endParaRPr>
          </a:p>
          <a:p>
            <a:pPr marL="0" indent="0">
              <a:spcBef>
                <a:spcPts val="0"/>
              </a:spcBef>
              <a:spcAft>
                <a:spcPts val="600"/>
              </a:spcAft>
              <a:buNone/>
            </a:pPr>
            <a:r>
              <a:rPr lang="en-US" sz="5600" b="1" dirty="0">
                <a:latin typeface="Arial" panose="020B0604020202020204" pitchFamily="34" charset="0"/>
                <a:cs typeface="Arial" panose="020B0604020202020204" pitchFamily="34" charset="0"/>
              </a:rPr>
              <a:t>       </a:t>
            </a:r>
            <a:r>
              <a:rPr lang="en-US" sz="5600" dirty="0">
                <a:latin typeface="Arial" panose="020B0604020202020204" pitchFamily="34" charset="0"/>
                <a:cs typeface="Arial" panose="020B0604020202020204" pitchFamily="34" charset="0"/>
              </a:rPr>
              <a:t>It is (coefficient of determination) measures how well the model explains the variability in house prices.</a:t>
            </a:r>
          </a:p>
          <a:p>
            <a:pPr marL="0" indent="0">
              <a:spcBef>
                <a:spcPts val="0"/>
              </a:spcBef>
              <a:spcAft>
                <a:spcPts val="600"/>
              </a:spcAft>
              <a:buNone/>
            </a:pPr>
            <a:r>
              <a:rPr lang="en-US" sz="5600" dirty="0">
                <a:latin typeface="Arial" panose="020B0604020202020204" pitchFamily="34" charset="0"/>
                <a:cs typeface="Arial" panose="020B0604020202020204" pitchFamily="34" charset="0"/>
              </a:rPr>
              <a:t>        A value of 0.26 is quite low, meaning the model only explains 26% of the variance in the actual house prices.</a:t>
            </a:r>
          </a:p>
          <a:p>
            <a:pPr marL="0" indent="0">
              <a:spcBef>
                <a:spcPts val="0"/>
              </a:spcBef>
              <a:spcAft>
                <a:spcPts val="600"/>
              </a:spcAft>
              <a:buNone/>
            </a:pPr>
            <a:r>
              <a:rPr lang="en-US" sz="5600" dirty="0">
                <a:latin typeface="Arial" panose="020B0604020202020204" pitchFamily="34" charset="0"/>
                <a:cs typeface="Arial" panose="020B0604020202020204" pitchFamily="34" charset="0"/>
              </a:rPr>
              <a:t>        </a:t>
            </a:r>
            <a:r>
              <a:rPr lang="en-US" sz="5600" b="1" dirty="0">
                <a:latin typeface="Arial" panose="020B0604020202020204" pitchFamily="34" charset="0"/>
                <a:cs typeface="Arial" panose="020B0604020202020204" pitchFamily="34" charset="0"/>
              </a:rPr>
              <a:t>In simpler terms, the model does not fit the data well.</a:t>
            </a:r>
          </a:p>
          <a:p>
            <a:pPr marL="0" indent="0">
              <a:spcBef>
                <a:spcPts val="0"/>
              </a:spcBef>
              <a:spcAft>
                <a:spcPts val="600"/>
              </a:spcAft>
              <a:buNone/>
            </a:pPr>
            <a:r>
              <a:rPr lang="en-US" sz="5600" b="1" dirty="0">
                <a:latin typeface="Arial" panose="020B0604020202020204" pitchFamily="34" charset="0"/>
                <a:cs typeface="Arial" panose="020B0604020202020204" pitchFamily="34" charset="0"/>
              </a:rPr>
              <a:t>        </a:t>
            </a:r>
          </a:p>
          <a:p>
            <a:r>
              <a:rPr lang="en-US" sz="5600" b="1" i="0" dirty="0">
                <a:solidFill>
                  <a:schemeClr val="tx1"/>
                </a:solidFill>
                <a:effectLst/>
                <a:latin typeface="Arial" panose="020B0604020202020204" pitchFamily="34" charset="0"/>
                <a:cs typeface="Arial" panose="020B0604020202020204" pitchFamily="34" charset="0"/>
              </a:rPr>
              <a:t> </a:t>
            </a:r>
            <a:r>
              <a:rPr lang="en-US" sz="5600" b="1" dirty="0">
                <a:latin typeface="Arial" panose="020B0604020202020204" pitchFamily="34" charset="0"/>
                <a:cs typeface="Arial" panose="020B0604020202020204" pitchFamily="34" charset="0"/>
              </a:rPr>
              <a:t>Predicted House Price for new data: 741252</a:t>
            </a:r>
          </a:p>
          <a:p>
            <a:pPr marL="0" indent="0">
              <a:spcBef>
                <a:spcPts val="0"/>
              </a:spcBef>
              <a:spcAft>
                <a:spcPts val="600"/>
              </a:spcAft>
              <a:buNone/>
            </a:pPr>
            <a:endParaRPr lang="en-US" sz="5600" b="1" dirty="0">
              <a:latin typeface="Arial" panose="020B0604020202020204" pitchFamily="34" charset="0"/>
              <a:cs typeface="Arial" panose="020B0604020202020204" pitchFamily="34" charset="0"/>
            </a:endParaRPr>
          </a:p>
          <a:p>
            <a:pPr marL="0" indent="0">
              <a:spcBef>
                <a:spcPts val="0"/>
              </a:spcBef>
              <a:spcAft>
                <a:spcPts val="600"/>
              </a:spcAft>
              <a:buNone/>
            </a:pPr>
            <a:endParaRPr lang="en-US" sz="5600" b="1" dirty="0">
              <a:latin typeface="Arial" panose="020B0604020202020204" pitchFamily="34" charset="0"/>
              <a:cs typeface="Arial" panose="020B0604020202020204" pitchFamily="34" charset="0"/>
            </a:endParaRPr>
          </a:p>
          <a:p>
            <a:pPr marL="0" indent="0">
              <a:spcBef>
                <a:spcPts val="0"/>
              </a:spcBef>
              <a:spcAft>
                <a:spcPts val="600"/>
              </a:spcAft>
              <a:buNone/>
            </a:pPr>
            <a:endParaRPr lang="en-US" sz="5600" b="1" dirty="0">
              <a:latin typeface="Arial" panose="020B0604020202020204" pitchFamily="34" charset="0"/>
              <a:cs typeface="Arial" panose="020B0604020202020204" pitchFamily="34" charset="0"/>
            </a:endParaRPr>
          </a:p>
          <a:p>
            <a:pPr marL="0" indent="0">
              <a:spcBef>
                <a:spcPts val="0"/>
              </a:spcBef>
              <a:spcAft>
                <a:spcPts val="600"/>
              </a:spcAft>
              <a:buNone/>
            </a:pPr>
            <a:endParaRPr lang="en-CA" sz="56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9572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96685-AD5A-407F-7240-6C7B4B9AD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240211-7300-14C1-E31C-B6B7A791E5AC}"/>
              </a:ext>
            </a:extLst>
          </p:cNvPr>
          <p:cNvSpPr>
            <a:spLocks noGrp="1"/>
          </p:cNvSpPr>
          <p:nvPr>
            <p:ph type="title"/>
          </p:nvPr>
        </p:nvSpPr>
        <p:spPr>
          <a:xfrm>
            <a:off x="4327940" y="612940"/>
            <a:ext cx="2635567" cy="846408"/>
          </a:xfrm>
        </p:spPr>
        <p:txBody>
          <a:bodyPr>
            <a:normAutofit/>
          </a:bodyPr>
          <a:lstStyle/>
          <a:p>
            <a:r>
              <a:rPr lang="en-CA" sz="4000" dirty="0">
                <a:latin typeface="Arial" panose="020B0604020202020204" pitchFamily="34" charset="0"/>
                <a:cs typeface="Arial" panose="020B0604020202020204" pitchFamily="34" charset="0"/>
              </a:rPr>
              <a:t>Summary</a:t>
            </a:r>
          </a:p>
        </p:txBody>
      </p:sp>
      <p:sp>
        <p:nvSpPr>
          <p:cNvPr id="3" name="Content Placeholder 2">
            <a:extLst>
              <a:ext uri="{FF2B5EF4-FFF2-40B4-BE49-F238E27FC236}">
                <a16:creationId xmlns:a16="http://schemas.microsoft.com/office/drawing/2014/main" id="{CAD017D9-AC72-850E-E878-A230D5549373}"/>
              </a:ext>
            </a:extLst>
          </p:cNvPr>
          <p:cNvSpPr>
            <a:spLocks noGrp="1"/>
          </p:cNvSpPr>
          <p:nvPr>
            <p:ph idx="1"/>
          </p:nvPr>
        </p:nvSpPr>
        <p:spPr>
          <a:xfrm>
            <a:off x="838200" y="1470518"/>
            <a:ext cx="10515600" cy="4351338"/>
          </a:xfrm>
        </p:spPr>
        <p:txBody>
          <a:bodyPr>
            <a:normAutofit/>
          </a:bodyPr>
          <a:lstStyle/>
          <a:p>
            <a:pPr marL="0" indent="0">
              <a:buNone/>
            </a:pP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 </a:t>
            </a:r>
            <a:r>
              <a:rPr lang="en-US" sz="1400" b="1" dirty="0">
                <a:latin typeface="Arial" panose="020B0604020202020204" pitchFamily="34" charset="0"/>
                <a:cs typeface="Arial" panose="020B0604020202020204" pitchFamily="34" charset="0"/>
              </a:rPr>
              <a:t>linear regression model</a:t>
            </a:r>
            <a:r>
              <a:rPr lang="en-US" sz="1400" dirty="0">
                <a:latin typeface="Arial" panose="020B0604020202020204" pitchFamily="34" charset="0"/>
                <a:cs typeface="Arial" panose="020B0604020202020204" pitchFamily="34" charset="0"/>
              </a:rPr>
              <a:t> does not perform well in predicting high house prices</a:t>
            </a:r>
          </a:p>
          <a:p>
            <a:pPr>
              <a:buFont typeface="Wingdings" panose="05000000000000000000" pitchFamily="2" charset="2"/>
              <a:buChar char="v"/>
            </a:pPr>
            <a:r>
              <a:rPr lang="en-US" sz="1400" dirty="0">
                <a:latin typeface="Arial" panose="020B0604020202020204" pitchFamily="34" charset="0"/>
                <a:cs typeface="Arial" panose="020B0604020202020204" pitchFamily="34" charset="0"/>
              </a:rPr>
              <a:t>The </a:t>
            </a:r>
            <a:r>
              <a:rPr lang="en-US" sz="1400" b="1" dirty="0">
                <a:latin typeface="Arial" panose="020B0604020202020204" pitchFamily="34" charset="0"/>
                <a:cs typeface="Arial" panose="020B0604020202020204" pitchFamily="34" charset="0"/>
              </a:rPr>
              <a:t>low R² score</a:t>
            </a:r>
            <a:r>
              <a:rPr lang="en-US" sz="1400" dirty="0">
                <a:latin typeface="Arial" panose="020B0604020202020204" pitchFamily="34" charset="0"/>
                <a:cs typeface="Arial" panose="020B0604020202020204" pitchFamily="34" charset="0"/>
              </a:rPr>
              <a:t> (0.26) indicates poor predictive accuracy.</a:t>
            </a:r>
          </a:p>
          <a:p>
            <a:pPr>
              <a:buFont typeface="Wingdings" panose="05000000000000000000" pitchFamily="2" charset="2"/>
              <a:buChar char="v"/>
            </a:pPr>
            <a:r>
              <a:rPr lang="en-US" sz="1400" dirty="0">
                <a:latin typeface="Arial" panose="020B0604020202020204" pitchFamily="34" charset="0"/>
                <a:cs typeface="Arial" panose="020B0604020202020204" pitchFamily="34" charset="0"/>
              </a:rPr>
              <a:t>The model's predictions are </a:t>
            </a:r>
            <a:r>
              <a:rPr lang="en-US" sz="1400" b="1" dirty="0">
                <a:latin typeface="Arial" panose="020B0604020202020204" pitchFamily="34" charset="0"/>
                <a:cs typeface="Arial" panose="020B0604020202020204" pitchFamily="34" charset="0"/>
              </a:rPr>
              <a:t>biased towards lower values</a:t>
            </a:r>
            <a:r>
              <a:rPr lang="en-US" sz="1400" dirty="0">
                <a:latin typeface="Arial" panose="020B0604020202020204" pitchFamily="34" charset="0"/>
                <a:cs typeface="Arial" panose="020B0604020202020204" pitchFamily="34" charset="0"/>
              </a:rPr>
              <a:t> and struggle with higher prices.</a:t>
            </a:r>
          </a:p>
          <a:p>
            <a:pPr>
              <a:buFont typeface="Wingdings" panose="05000000000000000000" pitchFamily="2" charset="2"/>
              <a:buChar char="v"/>
            </a:pPr>
            <a:r>
              <a:rPr lang="en-US" sz="1400" dirty="0">
                <a:latin typeface="Arial" panose="020B0604020202020204" pitchFamily="34" charset="0"/>
                <a:cs typeface="Arial" panose="020B0604020202020204" pitchFamily="34" charset="0"/>
              </a:rPr>
              <a:t>The </a:t>
            </a:r>
            <a:r>
              <a:rPr lang="en-US" sz="1400" b="1" dirty="0">
                <a:latin typeface="Arial" panose="020B0604020202020204" pitchFamily="34" charset="0"/>
                <a:cs typeface="Arial" panose="020B0604020202020204" pitchFamily="34" charset="0"/>
              </a:rPr>
              <a:t>high MAE</a:t>
            </a:r>
            <a:r>
              <a:rPr lang="en-US" sz="1400" dirty="0">
                <a:latin typeface="Arial" panose="020B0604020202020204" pitchFamily="34" charset="0"/>
                <a:cs typeface="Arial" panose="020B0604020202020204" pitchFamily="34" charset="0"/>
              </a:rPr>
              <a:t> suggests the model's predictions are off by a significant margin on average.</a:t>
            </a:r>
          </a:p>
          <a:p>
            <a:pPr marL="0" indent="0">
              <a:buNone/>
            </a:pPr>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To improve the model:</a:t>
            </a:r>
          </a:p>
          <a:p>
            <a:pPr>
              <a:buFont typeface="Wingdings" panose="05000000000000000000" pitchFamily="2" charset="2"/>
              <a:buChar char="v"/>
            </a:pPr>
            <a:r>
              <a:rPr lang="en-US" sz="1400" dirty="0">
                <a:latin typeface="Arial" panose="020B0604020202020204" pitchFamily="34" charset="0"/>
                <a:cs typeface="Arial" panose="020B0604020202020204" pitchFamily="34" charset="0"/>
              </a:rPr>
              <a:t>Consider using more complex algorithms (e.g., decision trees, random forests, or gradient boosting).</a:t>
            </a:r>
          </a:p>
          <a:p>
            <a:pPr>
              <a:buFont typeface="Wingdings" panose="05000000000000000000" pitchFamily="2" charset="2"/>
              <a:buChar char="v"/>
            </a:pPr>
            <a:r>
              <a:rPr lang="en-US" sz="1400" dirty="0">
                <a:latin typeface="Arial" panose="020B0604020202020204" pitchFamily="34" charset="0"/>
                <a:cs typeface="Arial" panose="020B0604020202020204" pitchFamily="34" charset="0"/>
              </a:rPr>
              <a:t>Include more relevant features (e.g., location, square footage, number of rooms, year of built).</a:t>
            </a:r>
          </a:p>
          <a:p>
            <a:pPr>
              <a:buFont typeface="Wingdings" panose="05000000000000000000" pitchFamily="2" charset="2"/>
              <a:buChar char="v"/>
            </a:pPr>
            <a:r>
              <a:rPr lang="en-US" sz="1400" dirty="0">
                <a:latin typeface="Arial" panose="020B0604020202020204" pitchFamily="34" charset="0"/>
                <a:cs typeface="Arial" panose="020B0604020202020204" pitchFamily="34" charset="0"/>
              </a:rPr>
              <a:t>Normalize or transform the data to address skewness or outliers.</a:t>
            </a:r>
          </a:p>
          <a:p>
            <a:pPr>
              <a:buFont typeface="Wingdings" panose="05000000000000000000" pitchFamily="2" charset="2"/>
              <a:buChar char="v"/>
            </a:pPr>
            <a:endParaRPr lang="en-US" sz="1400" dirty="0"/>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en-CA"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2516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FC1E7-E738-22A2-D221-0A3897E2EC3C}"/>
              </a:ext>
            </a:extLst>
          </p:cNvPr>
          <p:cNvSpPr>
            <a:spLocks noGrp="1"/>
          </p:cNvSpPr>
          <p:nvPr>
            <p:ph type="title"/>
          </p:nvPr>
        </p:nvSpPr>
        <p:spPr>
          <a:xfrm>
            <a:off x="499717" y="138734"/>
            <a:ext cx="10515600" cy="797753"/>
          </a:xfrm>
        </p:spPr>
        <p:txBody>
          <a:bodyPr>
            <a:normAutofit/>
          </a:bodyPr>
          <a:lstStyle/>
          <a:p>
            <a:r>
              <a:rPr lang="en-CA" dirty="0">
                <a:latin typeface="Arial" panose="020B0604020202020204" pitchFamily="34" charset="0"/>
                <a:cs typeface="Arial" panose="020B0604020202020204" pitchFamily="34" charset="0"/>
              </a:rPr>
              <a:t>Random Forest Model</a:t>
            </a:r>
          </a:p>
        </p:txBody>
      </p:sp>
      <p:pic>
        <p:nvPicPr>
          <p:cNvPr id="7" name="Picture 6">
            <a:extLst>
              <a:ext uri="{FF2B5EF4-FFF2-40B4-BE49-F238E27FC236}">
                <a16:creationId xmlns:a16="http://schemas.microsoft.com/office/drawing/2014/main" id="{B4DDFC77-6E35-CACF-99ED-EC0133E0F5B9}"/>
              </a:ext>
            </a:extLst>
          </p:cNvPr>
          <p:cNvPicPr>
            <a:picLocks noChangeAspect="1"/>
          </p:cNvPicPr>
          <p:nvPr/>
        </p:nvPicPr>
        <p:blipFill>
          <a:blip r:embed="rId2"/>
          <a:stretch>
            <a:fillRect/>
          </a:stretch>
        </p:blipFill>
        <p:spPr>
          <a:xfrm>
            <a:off x="150247" y="1037864"/>
            <a:ext cx="8106906" cy="5163271"/>
          </a:xfrm>
          <a:prstGeom prst="rect">
            <a:avLst/>
          </a:prstGeom>
        </p:spPr>
      </p:pic>
      <p:sp>
        <p:nvSpPr>
          <p:cNvPr id="10" name="TextBox 9">
            <a:extLst>
              <a:ext uri="{FF2B5EF4-FFF2-40B4-BE49-F238E27FC236}">
                <a16:creationId xmlns:a16="http://schemas.microsoft.com/office/drawing/2014/main" id="{B5EAF5D1-62BC-2325-5181-49A96E07553C}"/>
              </a:ext>
            </a:extLst>
          </p:cNvPr>
          <p:cNvSpPr txBox="1"/>
          <p:nvPr/>
        </p:nvSpPr>
        <p:spPr>
          <a:xfrm>
            <a:off x="8505093" y="138734"/>
            <a:ext cx="3106614" cy="923330"/>
          </a:xfrm>
          <a:prstGeom prst="rect">
            <a:avLst/>
          </a:prstGeom>
          <a:noFill/>
        </p:spPr>
        <p:txBody>
          <a:bodyPr wrap="square" rtlCol="0">
            <a:spAutoFit/>
          </a:bodyPr>
          <a:lstStyle/>
          <a:p>
            <a:r>
              <a:rPr lang="en-CA" b="0" i="0" dirty="0">
                <a:effectLst/>
                <a:latin typeface="Arial" panose="020B0604020202020204" pitchFamily="34" charset="0"/>
                <a:cs typeface="Arial" panose="020B0604020202020204" pitchFamily="34" charset="0"/>
              </a:rPr>
              <a:t>Random Forest Results: MAE: 360959.01</a:t>
            </a:r>
          </a:p>
          <a:p>
            <a:r>
              <a:rPr lang="en-CA" b="0" i="0" dirty="0">
                <a:effectLst/>
                <a:latin typeface="Arial" panose="020B0604020202020204" pitchFamily="34" charset="0"/>
                <a:cs typeface="Arial" panose="020B0604020202020204" pitchFamily="34" charset="0"/>
              </a:rPr>
              <a:t>R² Score:0.4059</a:t>
            </a:r>
            <a:endParaRPr lang="en-CA" dirty="0">
              <a:latin typeface="Arial" panose="020B0604020202020204" pitchFamily="34" charset="0"/>
              <a:cs typeface="Arial" panose="020B0604020202020204" pitchFamily="34" charset="0"/>
            </a:endParaRPr>
          </a:p>
        </p:txBody>
      </p:sp>
      <p:sp>
        <p:nvSpPr>
          <p:cNvPr id="3" name="TextBox 2"/>
          <p:cNvSpPr txBox="1"/>
          <p:nvPr/>
        </p:nvSpPr>
        <p:spPr>
          <a:xfrm>
            <a:off x="8425193" y="1062064"/>
            <a:ext cx="3604049" cy="6063198"/>
          </a:xfrm>
          <a:prstGeom prst="rect">
            <a:avLst/>
          </a:prstGeom>
          <a:noFill/>
        </p:spPr>
        <p:txBody>
          <a:bodyPr wrap="square" rtlCol="0">
            <a:spAutoFit/>
          </a:bodyPr>
          <a:lstStyle/>
          <a:p>
            <a:endParaRPr lang="en-US" sz="1200" dirty="0"/>
          </a:p>
          <a:p>
            <a:pPr algn="just"/>
            <a:r>
              <a:rPr lang="en-US" sz="1200" dirty="0">
                <a:latin typeface="Arial" panose="020B0604020202020204" pitchFamily="34" charset="0"/>
                <a:cs typeface="Arial" panose="020B0604020202020204" pitchFamily="34" charset="0"/>
              </a:rPr>
              <a:t>Each blue point represents a prediction made by the Random Forest model compared to the actual price.</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Red line is the "Perfect Prediction Line" (y = x), where the predicted prices would perfectly match the actual prices.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Most of the data points are clustered in the lower price range (0 to ~5 millions).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Predictions appear to be close to actual values in this range, but there is still significant scatter, indicating errors.</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For higher actual house prices (e.g., 10-20 million), predictions are systematically lower. This means the Random Forest </a:t>
            </a:r>
            <a:r>
              <a:rPr lang="en-US" sz="1200">
                <a:latin typeface="Arial" panose="020B0604020202020204" pitchFamily="34" charset="0"/>
                <a:cs typeface="Arial" panose="020B0604020202020204" pitchFamily="34" charset="0"/>
              </a:rPr>
              <a:t>model struggle to </a:t>
            </a:r>
            <a:r>
              <a:rPr lang="en-US" sz="1200" dirty="0">
                <a:latin typeface="Arial" panose="020B0604020202020204" pitchFamily="34" charset="0"/>
                <a:cs typeface="Arial" panose="020B0604020202020204" pitchFamily="34" charset="0"/>
              </a:rPr>
              <a:t>capture trends in higher price ranges, leading to underestimation.</a:t>
            </a:r>
            <a:r>
              <a:rPr lang="en-US" sz="1200" dirty="0"/>
              <a:t> </a:t>
            </a:r>
          </a:p>
          <a:p>
            <a:endParaRPr lang="en-US" sz="1200" dirty="0">
              <a:latin typeface="Arial" panose="020B0604020202020204" pitchFamily="34" charset="0"/>
              <a:cs typeface="Arial" panose="020B0604020202020204" pitchFamily="34" charset="0"/>
            </a:endParaRPr>
          </a:p>
          <a:p>
            <a:r>
              <a:rPr lang="en-US" sz="1100" dirty="0">
                <a:latin typeface="Arial" panose="020B0604020202020204" pitchFamily="34" charset="0"/>
                <a:cs typeface="Arial" panose="020B0604020202020204" pitchFamily="34" charset="0"/>
              </a:rPr>
              <a:t>Some predictions are far from the red line, indicating significant errors in those cases.</a:t>
            </a:r>
          </a:p>
          <a:p>
            <a:endParaRPr lang="en-US" sz="1100" dirty="0">
              <a:latin typeface="Arial" panose="020B0604020202020204" pitchFamily="34" charset="0"/>
              <a:cs typeface="Arial" panose="020B0604020202020204" pitchFamily="34" charset="0"/>
            </a:endParaRPr>
          </a:p>
          <a:p>
            <a:r>
              <a:rPr lang="en-US" sz="1100" dirty="0">
                <a:latin typeface="Arial" panose="020B0604020202020204" pitchFamily="34" charset="0"/>
                <a:cs typeface="Arial" panose="020B0604020202020204" pitchFamily="34" charset="0"/>
              </a:rPr>
              <a:t>The model struggles to generalize for extreme values (outliers), which might be due to insufficient training data for those price ranges.</a:t>
            </a:r>
            <a:endParaRPr lang="en-CA" sz="11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endParaRPr lang="en-US" sz="1100" dirty="0"/>
          </a:p>
          <a:p>
            <a:endParaRPr lang="en-US" sz="1100" dirty="0"/>
          </a:p>
          <a:p>
            <a:endParaRPr lang="en-US" sz="1200" dirty="0"/>
          </a:p>
          <a:p>
            <a:endParaRPr lang="en-US" sz="1200" dirty="0"/>
          </a:p>
        </p:txBody>
      </p:sp>
    </p:spTree>
    <p:extLst>
      <p:ext uri="{BB962C8B-B14F-4D97-AF65-F5344CB8AC3E}">
        <p14:creationId xmlns:p14="http://schemas.microsoft.com/office/powerpoint/2010/main" val="1406320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8503D-11AF-8E9B-FB45-6A1C82C4146D}"/>
              </a:ext>
            </a:extLst>
          </p:cNvPr>
          <p:cNvSpPr>
            <a:spLocks noGrp="1"/>
          </p:cNvSpPr>
          <p:nvPr>
            <p:ph type="title"/>
          </p:nvPr>
        </p:nvSpPr>
        <p:spPr/>
        <p:txBody>
          <a:bodyPr>
            <a:normAutofit/>
          </a:bodyPr>
          <a:lstStyle/>
          <a:p>
            <a:r>
              <a:rPr lang="en-US" sz="4000" dirty="0">
                <a:latin typeface="Arial" panose="020B0604020202020204" pitchFamily="34" charset="0"/>
                <a:cs typeface="Arial" panose="020B0604020202020204" pitchFamily="34" charset="0"/>
              </a:rPr>
              <a:t>Explanation of the Plot Results</a:t>
            </a:r>
          </a:p>
        </p:txBody>
      </p:sp>
      <p:sp>
        <p:nvSpPr>
          <p:cNvPr id="3" name="Content Placeholder 2">
            <a:extLst>
              <a:ext uri="{FF2B5EF4-FFF2-40B4-BE49-F238E27FC236}">
                <a16:creationId xmlns:a16="http://schemas.microsoft.com/office/drawing/2014/main" id="{B60EE249-2C1E-1E5B-D150-D6736570FB81}"/>
              </a:ext>
            </a:extLst>
          </p:cNvPr>
          <p:cNvSpPr>
            <a:spLocks noGrp="1"/>
          </p:cNvSpPr>
          <p:nvPr>
            <p:ph idx="1"/>
          </p:nvPr>
        </p:nvSpPr>
        <p:spPr>
          <a:xfrm>
            <a:off x="838200" y="1514842"/>
            <a:ext cx="10515600" cy="3748820"/>
          </a:xfrm>
        </p:spPr>
        <p:txBody>
          <a:bodyPr>
            <a:normAutofit fontScale="25000" lnSpcReduction="20000"/>
          </a:bodyPr>
          <a:lstStyle/>
          <a:p>
            <a:endParaRPr lang="en-US" dirty="0"/>
          </a:p>
          <a:p>
            <a:pPr marL="0" indent="0">
              <a:buFont typeface="Arial" panose="020B0604020202020204" pitchFamily="34" charset="0"/>
              <a:buNone/>
            </a:pPr>
            <a:r>
              <a:rPr lang="en-US" sz="5600" b="1" dirty="0">
                <a:latin typeface="Arial" panose="020B0604020202020204" pitchFamily="34" charset="0"/>
                <a:cs typeface="Arial" panose="020B0604020202020204" pitchFamily="34" charset="0"/>
              </a:rPr>
              <a:t>       Metrics Overview:</a:t>
            </a:r>
          </a:p>
          <a:p>
            <a:pPr marL="0" indent="0">
              <a:buFont typeface="Arial" panose="020B0604020202020204" pitchFamily="34" charset="0"/>
              <a:buNone/>
            </a:pPr>
            <a:endParaRPr lang="en-US" sz="5600" b="1" dirty="0">
              <a:latin typeface="Arial" panose="020B0604020202020204" pitchFamily="34" charset="0"/>
              <a:cs typeface="Arial" panose="020B0604020202020204" pitchFamily="34" charset="0"/>
            </a:endParaRPr>
          </a:p>
          <a:p>
            <a:pPr>
              <a:spcAft>
                <a:spcPts val="600"/>
              </a:spcAft>
            </a:pPr>
            <a:r>
              <a:rPr lang="en-US" sz="5600" b="1" dirty="0">
                <a:latin typeface="Arial" panose="020B0604020202020204" pitchFamily="34" charset="0"/>
                <a:cs typeface="Arial" panose="020B0604020202020204" pitchFamily="34" charset="0"/>
              </a:rPr>
              <a:t>Mean Absolute Error (MAE): 360,959</a:t>
            </a:r>
          </a:p>
          <a:p>
            <a:pPr marL="0" indent="0">
              <a:spcBef>
                <a:spcPts val="0"/>
              </a:spcBef>
              <a:spcAft>
                <a:spcPts val="600"/>
              </a:spcAft>
              <a:buNone/>
            </a:pPr>
            <a:r>
              <a:rPr lang="en-US" sz="5600" dirty="0">
                <a:latin typeface="Arial" panose="020B0604020202020204" pitchFamily="34" charset="0"/>
                <a:cs typeface="Arial" panose="020B0604020202020204" pitchFamily="34" charset="0"/>
              </a:rPr>
              <a:t>       It is the average of the absolute differences between the actual values and the predicted values. It measures how far the </a:t>
            </a:r>
          </a:p>
          <a:p>
            <a:pPr marL="0" indent="0">
              <a:spcBef>
                <a:spcPts val="0"/>
              </a:spcBef>
              <a:spcAft>
                <a:spcPts val="600"/>
              </a:spcAft>
              <a:buNone/>
            </a:pPr>
            <a:r>
              <a:rPr lang="en-US" sz="5600" dirty="0">
                <a:latin typeface="Arial" panose="020B0604020202020204" pitchFamily="34" charset="0"/>
                <a:cs typeface="Arial" panose="020B0604020202020204" pitchFamily="34" charset="0"/>
              </a:rPr>
              <a:t>       predictions are, on average from the actual values.</a:t>
            </a:r>
          </a:p>
          <a:p>
            <a:pPr marL="0" indent="0">
              <a:spcBef>
                <a:spcPts val="0"/>
              </a:spcBef>
              <a:spcAft>
                <a:spcPts val="600"/>
              </a:spcAft>
              <a:buNone/>
            </a:pPr>
            <a:r>
              <a:rPr lang="en-US" sz="5600" b="1" dirty="0">
                <a:latin typeface="Arial" panose="020B0604020202020204" pitchFamily="34" charset="0"/>
                <a:cs typeface="Arial" panose="020B0604020202020204" pitchFamily="34" charset="0"/>
              </a:rPr>
              <a:t>       This means on average the model's predictions deviate from the actual house prices by about 360,959 units.</a:t>
            </a:r>
          </a:p>
          <a:p>
            <a:r>
              <a:rPr lang="en-US" sz="5600" b="1" dirty="0">
                <a:latin typeface="Arial" panose="020B0604020202020204" pitchFamily="34" charset="0"/>
                <a:cs typeface="Arial" panose="020B0604020202020204" pitchFamily="34" charset="0"/>
              </a:rPr>
              <a:t>R² Score: 0.4059 </a:t>
            </a:r>
          </a:p>
          <a:p>
            <a:pPr marL="0" indent="0">
              <a:buNone/>
            </a:pPr>
            <a:r>
              <a:rPr lang="en-US" sz="5600" b="1" dirty="0">
                <a:latin typeface="Arial" panose="020B0604020202020204" pitchFamily="34" charset="0"/>
                <a:cs typeface="Arial" panose="020B0604020202020204" pitchFamily="34" charset="0"/>
              </a:rPr>
              <a:t>       </a:t>
            </a:r>
            <a:r>
              <a:rPr lang="en-US" sz="5600" dirty="0">
                <a:latin typeface="Arial" panose="020B0604020202020204" pitchFamily="34" charset="0"/>
                <a:cs typeface="Arial" panose="020B0604020202020204" pitchFamily="34" charset="0"/>
              </a:rPr>
              <a:t>It is (coefficient of determination) measures how well the model explains the variability in house prices.</a:t>
            </a:r>
          </a:p>
          <a:p>
            <a:pPr marL="0" indent="0">
              <a:buNone/>
            </a:pPr>
            <a:r>
              <a:rPr lang="en-US" sz="5600" dirty="0">
                <a:latin typeface="Arial" panose="020B0604020202020204" pitchFamily="34" charset="0"/>
                <a:cs typeface="Arial" panose="020B0604020202020204" pitchFamily="34" charset="0"/>
              </a:rPr>
              <a:t>       0.4059 means the model explains only 40.59% of the variance in the target variable (Price), which suggests a moderate fit.</a:t>
            </a:r>
          </a:p>
          <a:p>
            <a:pPr marL="0" indent="0">
              <a:buNone/>
            </a:pPr>
            <a:endParaRPr lang="en-US" sz="5600" dirty="0">
              <a:latin typeface="Arial" panose="020B0604020202020204" pitchFamily="34" charset="0"/>
              <a:cs typeface="Arial" panose="020B0604020202020204" pitchFamily="34" charset="0"/>
            </a:endParaRPr>
          </a:p>
          <a:p>
            <a:pPr algn="l"/>
            <a:r>
              <a:rPr lang="en-US" sz="5600" b="1" dirty="0">
                <a:solidFill>
                  <a:schemeClr val="tx1"/>
                </a:solidFill>
                <a:latin typeface="Arial" panose="020B0604020202020204" pitchFamily="34" charset="0"/>
                <a:cs typeface="Arial" panose="020B0604020202020204" pitchFamily="34" charset="0"/>
              </a:rPr>
              <a:t> </a:t>
            </a:r>
            <a:r>
              <a:rPr lang="en-US" sz="6000" b="1" i="0" dirty="0">
                <a:solidFill>
                  <a:schemeClr val="tx1"/>
                </a:solidFill>
                <a:effectLst/>
                <a:latin typeface="Arial" panose="020B0604020202020204" pitchFamily="34" charset="0"/>
                <a:cs typeface="Arial" panose="020B0604020202020204" pitchFamily="34" charset="0"/>
              </a:rPr>
              <a:t>Predicted House Price for new data: 961697</a:t>
            </a:r>
          </a:p>
          <a:p>
            <a:pPr marL="0" indent="0">
              <a:buNone/>
            </a:pPr>
            <a:br>
              <a:rPr lang="en-US" sz="6000" b="0" i="0" dirty="0">
                <a:solidFill>
                  <a:srgbClr val="CCCCCC"/>
                </a:solidFill>
                <a:effectLst/>
                <a:latin typeface="var(--notebook-cell-output-font-family)"/>
              </a:rPr>
            </a:br>
            <a:endParaRPr lang="en-CA" sz="4800" dirty="0"/>
          </a:p>
        </p:txBody>
      </p:sp>
    </p:spTree>
    <p:extLst>
      <p:ext uri="{BB962C8B-B14F-4D97-AF65-F5344CB8AC3E}">
        <p14:creationId xmlns:p14="http://schemas.microsoft.com/office/powerpoint/2010/main" val="37544668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240E1-33CD-31D9-5DE3-009B9642738D}"/>
              </a:ext>
            </a:extLst>
          </p:cNvPr>
          <p:cNvSpPr>
            <a:spLocks noGrp="1"/>
          </p:cNvSpPr>
          <p:nvPr>
            <p:ph type="title"/>
          </p:nvPr>
        </p:nvSpPr>
        <p:spPr>
          <a:xfrm>
            <a:off x="4468617" y="612940"/>
            <a:ext cx="2670737" cy="846408"/>
          </a:xfrm>
        </p:spPr>
        <p:txBody>
          <a:bodyPr>
            <a:normAutofit/>
          </a:bodyPr>
          <a:lstStyle/>
          <a:p>
            <a:r>
              <a:rPr lang="en-CA" sz="4000" dirty="0">
                <a:latin typeface="Arial" panose="020B0604020202020204" pitchFamily="34" charset="0"/>
                <a:cs typeface="Arial" panose="020B0604020202020204" pitchFamily="34" charset="0"/>
              </a:rPr>
              <a:t>Summary</a:t>
            </a:r>
          </a:p>
        </p:txBody>
      </p:sp>
      <p:sp>
        <p:nvSpPr>
          <p:cNvPr id="3" name="Content Placeholder 2">
            <a:extLst>
              <a:ext uri="{FF2B5EF4-FFF2-40B4-BE49-F238E27FC236}">
                <a16:creationId xmlns:a16="http://schemas.microsoft.com/office/drawing/2014/main" id="{9B8A8D0E-AB36-D2F4-3C91-CC3B310F63FC}"/>
              </a:ext>
            </a:extLst>
          </p:cNvPr>
          <p:cNvSpPr>
            <a:spLocks noGrp="1"/>
          </p:cNvSpPr>
          <p:nvPr>
            <p:ph idx="1"/>
          </p:nvPr>
        </p:nvSpPr>
        <p:spPr>
          <a:xfrm>
            <a:off x="838200" y="1470518"/>
            <a:ext cx="10515600" cy="4351338"/>
          </a:xfrm>
        </p:spPr>
        <p:txBody>
          <a:bodyPr>
            <a:normAutofit/>
          </a:bodyPr>
          <a:lstStyle/>
          <a:p>
            <a:pPr marL="0" indent="0">
              <a:buNone/>
            </a:pPr>
            <a:endParaRPr lang="en-US" sz="1400" dirty="0">
              <a:latin typeface="Arial" panose="020B0604020202020204" pitchFamily="34" charset="0"/>
              <a:cs typeface="Arial" panose="020B0604020202020204" pitchFamily="34" charset="0"/>
            </a:endParaRPr>
          </a:p>
          <a:p>
            <a:pPr marL="0" indent="0">
              <a:buNone/>
            </a:pPr>
            <a:r>
              <a:rPr lang="en-US" sz="1400" b="1" dirty="0">
                <a:latin typeface="Arial" panose="020B0604020202020204" pitchFamily="34" charset="0"/>
                <a:cs typeface="Arial" panose="020B0604020202020204" pitchFamily="34" charset="0"/>
              </a:rPr>
              <a:t>    Strengths: </a:t>
            </a:r>
            <a:r>
              <a:rPr lang="en-US" sz="1400" dirty="0">
                <a:latin typeface="Arial" panose="020B0604020202020204" pitchFamily="34" charset="0"/>
                <a:cs typeface="Arial" panose="020B0604020202020204" pitchFamily="34" charset="0"/>
              </a:rPr>
              <a:t>The model performs reasonably well for the lower price range where data is abundant.</a:t>
            </a:r>
          </a:p>
          <a:p>
            <a:endParaRPr lang="en-US" sz="1400" dirty="0">
              <a:latin typeface="Arial" panose="020B0604020202020204" pitchFamily="34" charset="0"/>
              <a:cs typeface="Arial" panose="020B0604020202020204" pitchFamily="34" charset="0"/>
            </a:endParaRPr>
          </a:p>
          <a:p>
            <a:pPr marL="0" indent="0">
              <a:spcBef>
                <a:spcPts val="0"/>
              </a:spcBef>
              <a:spcAft>
                <a:spcPts val="600"/>
              </a:spcAft>
              <a:buNone/>
            </a:pPr>
            <a:r>
              <a:rPr lang="en-US" sz="1400" b="1" dirty="0">
                <a:latin typeface="Arial" panose="020B0604020202020204" pitchFamily="34" charset="0"/>
                <a:cs typeface="Arial" panose="020B0604020202020204" pitchFamily="34" charset="0"/>
              </a:rPr>
              <a:t>    Weaknesses: </a:t>
            </a:r>
            <a:r>
              <a:rPr lang="en-US" sz="1400" dirty="0">
                <a:latin typeface="Arial" panose="020B0604020202020204" pitchFamily="34" charset="0"/>
                <a:cs typeface="Arial" panose="020B0604020202020204" pitchFamily="34" charset="0"/>
              </a:rPr>
              <a:t>The model underestimates high-priced houses. The R² score (0.41) suggests that the model is not fully capturing</a:t>
            </a:r>
          </a:p>
          <a:p>
            <a:pPr marL="0" indent="0">
              <a:spcBef>
                <a:spcPts val="0"/>
              </a:spcBef>
              <a:spcAft>
                <a:spcPts val="600"/>
              </a:spcAft>
              <a:buNone/>
            </a:pPr>
            <a:r>
              <a:rPr lang="en-US" sz="1400" dirty="0">
                <a:latin typeface="Arial" panose="020B0604020202020204" pitchFamily="34" charset="0"/>
                <a:cs typeface="Arial" panose="020B0604020202020204" pitchFamily="34" charset="0"/>
              </a:rPr>
              <a:t>                            the relationship between features and prices.</a:t>
            </a:r>
          </a:p>
          <a:p>
            <a:pPr marL="0" indent="0">
              <a:buNone/>
            </a:pPr>
            <a:r>
              <a:rPr lang="en-US" sz="1400" b="1" dirty="0">
                <a:latin typeface="Arial" panose="020B0604020202020204" pitchFamily="34" charset="0"/>
                <a:cs typeface="Arial" panose="020B0604020202020204" pitchFamily="34" charset="0"/>
              </a:rPr>
              <a:t>    Reasons for Weakness:</a:t>
            </a:r>
          </a:p>
          <a:p>
            <a:r>
              <a:rPr lang="en-US" sz="1400" dirty="0">
                <a:latin typeface="Arial" panose="020B0604020202020204" pitchFamily="34" charset="0"/>
                <a:cs typeface="Arial" panose="020B0604020202020204" pitchFamily="34" charset="0"/>
              </a:rPr>
              <a:t>Lack of high-quality features (e.g., house location, size, amenities).</a:t>
            </a:r>
          </a:p>
          <a:p>
            <a:r>
              <a:rPr lang="en-US" sz="1400" dirty="0">
                <a:latin typeface="Arial" panose="020B0604020202020204" pitchFamily="34" charset="0"/>
                <a:cs typeface="Arial" panose="020B0604020202020204" pitchFamily="34" charset="0"/>
              </a:rPr>
              <a:t>Insufficient representation of higher-priced houses in the dataset.</a:t>
            </a:r>
          </a:p>
          <a:p>
            <a:pPr marL="0" indent="0">
              <a:buNone/>
            </a:pPr>
            <a:r>
              <a:rPr lang="en-US" sz="1400" b="1" dirty="0">
                <a:latin typeface="Arial" panose="020B0604020202020204" pitchFamily="34" charset="0"/>
                <a:cs typeface="Arial" panose="020B0604020202020204" pitchFamily="34" charset="0"/>
              </a:rPr>
              <a:t>    How to Improve:</a:t>
            </a:r>
          </a:p>
          <a:p>
            <a:r>
              <a:rPr lang="en-US" sz="1400" dirty="0">
                <a:latin typeface="Arial" panose="020B0604020202020204" pitchFamily="34" charset="0"/>
                <a:cs typeface="Arial" panose="020B0604020202020204" pitchFamily="34" charset="0"/>
              </a:rPr>
              <a:t>Add more features like house size (square footage), age of the house, neighborhood ratings, or amenities.</a:t>
            </a:r>
          </a:p>
          <a:p>
            <a:r>
              <a:rPr lang="en-US" sz="1400" dirty="0">
                <a:latin typeface="Arial" panose="020B0604020202020204" pitchFamily="34" charset="0"/>
                <a:cs typeface="Arial" panose="020B0604020202020204" pitchFamily="34" charset="0"/>
              </a:rPr>
              <a:t>Consider interactions between features (e.g., Number_Beds × Median_Family_Income).</a:t>
            </a:r>
          </a:p>
          <a:p>
            <a:r>
              <a:rPr lang="en-US" sz="1400" dirty="0">
                <a:latin typeface="Arial" panose="020B0604020202020204" pitchFamily="34" charset="0"/>
                <a:cs typeface="Arial" panose="020B0604020202020204" pitchFamily="34" charset="0"/>
              </a:rPr>
              <a:t>Handle Outliers</a:t>
            </a: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a:p>
            <a:endParaRPr lang="en-CA"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941967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TM02892315[[fn=Wisp]]</Template>
  <TotalTime>1389</TotalTime>
  <Words>954</Words>
  <Application>Microsoft Office PowerPoint</Application>
  <PresentationFormat>Widescreen</PresentationFormat>
  <Paragraphs>103</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Aptos</vt:lpstr>
      <vt:lpstr>Arial</vt:lpstr>
      <vt:lpstr>Century Gothic</vt:lpstr>
      <vt:lpstr>Consolas</vt:lpstr>
      <vt:lpstr>var(--notebook-cell-output-font-family)</vt:lpstr>
      <vt:lpstr>Wingdings</vt:lpstr>
      <vt:lpstr>Wingdings 3</vt:lpstr>
      <vt:lpstr>Wisp</vt:lpstr>
      <vt:lpstr>PowerPoint Presentation</vt:lpstr>
      <vt:lpstr>About this Data…</vt:lpstr>
      <vt:lpstr>PowerPoint Presentation</vt:lpstr>
      <vt:lpstr>Models</vt:lpstr>
      <vt:lpstr>PowerPoint Presentation</vt:lpstr>
      <vt:lpstr>Linear Regression Model</vt:lpstr>
      <vt:lpstr>Explanation of the Plot Results</vt:lpstr>
      <vt:lpstr>Summary</vt:lpstr>
      <vt:lpstr>Random Forest Model</vt:lpstr>
      <vt:lpstr>Explanation of the Plot Results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Nauman Khalid</dc:creator>
  <cp:lastModifiedBy>Nauman Khalid</cp:lastModifiedBy>
  <cp:revision>13</cp:revision>
  <dcterms:created xsi:type="dcterms:W3CDTF">2024-12-14T23:17:07Z</dcterms:created>
  <dcterms:modified xsi:type="dcterms:W3CDTF">2024-12-24T18:59:41Z</dcterms:modified>
</cp:coreProperties>
</file>